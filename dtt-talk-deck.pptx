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4" r:id="rId1"/>
  </p:sldMasterIdLst>
  <p:notesMasterIdLst>
    <p:notesMasterId r:id="rId28"/>
  </p:notesMasterIdLst>
  <p:sldIdLst>
    <p:sldId id="291" r:id="rId2"/>
    <p:sldId id="292" r:id="rId3"/>
    <p:sldId id="293" r:id="rId4"/>
    <p:sldId id="321" r:id="rId5"/>
    <p:sldId id="302" r:id="rId6"/>
    <p:sldId id="303" r:id="rId7"/>
    <p:sldId id="304" r:id="rId8"/>
    <p:sldId id="305" r:id="rId9"/>
    <p:sldId id="299" r:id="rId10"/>
    <p:sldId id="300" r:id="rId11"/>
    <p:sldId id="323" r:id="rId12"/>
    <p:sldId id="294" r:id="rId13"/>
    <p:sldId id="319" r:id="rId14"/>
    <p:sldId id="295" r:id="rId15"/>
    <p:sldId id="296" r:id="rId16"/>
    <p:sldId id="297" r:id="rId17"/>
    <p:sldId id="298" r:id="rId18"/>
    <p:sldId id="310" r:id="rId19"/>
    <p:sldId id="311" r:id="rId20"/>
    <p:sldId id="312" r:id="rId21"/>
    <p:sldId id="314" r:id="rId22"/>
    <p:sldId id="315" r:id="rId23"/>
    <p:sldId id="316" r:id="rId24"/>
    <p:sldId id="317" r:id="rId25"/>
    <p:sldId id="318" r:id="rId26"/>
    <p:sldId id="322" r:id="rId27"/>
  </p:sldIdLst>
  <p:sldSz cx="24384000" cy="13716000"/>
  <p:notesSz cx="6858000" cy="9144000"/>
  <p:embeddedFontLst>
    <p:embeddedFont>
      <p:font typeface="Averia Serif Libre" panose="02000603000000000004" pitchFamily="2" charset="0"/>
      <p:regular r:id="rId29"/>
      <p:bold r:id="rId30"/>
      <p:italic r:id="rId31"/>
      <p:boldItalic r:id="rId32"/>
    </p:embeddedFont>
    <p:embeddedFont>
      <p:font typeface="Helvetica Neue" panose="02000503000000020004" pitchFamily="2" charset="0"/>
      <p:regular r:id="rId33"/>
      <p:bold r:id="rId34"/>
      <p:italic r:id="rId35"/>
      <p:boldItalic r:id="rId36"/>
    </p:embeddedFont>
    <p:embeddedFont>
      <p:font typeface="Helvetica Neue Light" panose="02000403000000020004" pitchFamily="2" charset="0"/>
      <p:regular r:id="rId37"/>
      <p:bold r:id="rId38"/>
      <p:italic r:id="rId39"/>
      <p:boldItalic r:id="rId40"/>
    </p:embeddedFont>
    <p:embeddedFont>
      <p:font typeface="Poppins" pitchFamily="2" charset="77"/>
      <p:regular r:id="rId41"/>
      <p:bold r:id="rId42"/>
      <p:italic r:id="rId43"/>
      <p:boldItalic r:id="rId4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60" d="100"/>
          <a:sy n="60" d="100"/>
        </p:scale>
        <p:origin x="80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1.fntdata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42" Type="http://schemas.openxmlformats.org/officeDocument/2006/relationships/font" Target="fonts/font14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font" Target="fonts/font9.fntdata"/><Relationship Id="rId40" Type="http://schemas.openxmlformats.org/officeDocument/2006/relationships/font" Target="fonts/font12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4" Type="http://schemas.openxmlformats.org/officeDocument/2006/relationships/font" Target="fonts/font1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43" Type="http://schemas.openxmlformats.org/officeDocument/2006/relationships/font" Target="fonts/font15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font" Target="fonts/font10.fntdata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1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://midcamp.org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hyperlink" Target="http://midcamp.org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hyperlink" Target="http://midcamp.org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://midcamp.org" TargetMode="External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://midcamp.org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 - Purple">
  <p:cSld name="Title Slide 2 Line - Yellow_1_1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6600" y="-28262"/>
            <a:ext cx="24484476" cy="13772517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2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title"/>
          </p:nvPr>
        </p:nvSpPr>
        <p:spPr>
          <a:xfrm>
            <a:off x="13203936" y="2039112"/>
            <a:ext cx="10158900" cy="580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10000"/>
              <a:buFont typeface="Averia Serif Libre"/>
              <a:buNone/>
              <a:defRPr sz="1000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636240" y="8074152"/>
            <a:ext cx="8046600" cy="313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>
            <a:spLocks noGrp="1"/>
          </p:cNvSpPr>
          <p:nvPr>
            <p:ph type="pic" idx="2"/>
          </p:nvPr>
        </p:nvSpPr>
        <p:spPr>
          <a:xfrm>
            <a:off x="11128248" y="7626096"/>
            <a:ext cx="4078200" cy="40782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- Yellow">
  <p:cSld name="Title Slide 2 Line - Yellow_1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6359" y="-8"/>
            <a:ext cx="24384001" cy="13716001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3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3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3203936" y="2039112"/>
            <a:ext cx="10158900" cy="580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10000"/>
              <a:buFont typeface="Averia Serif Libre"/>
              <a:buNone/>
              <a:defRPr sz="1000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ubTitle" idx="1"/>
          </p:nvPr>
        </p:nvSpPr>
        <p:spPr>
          <a:xfrm>
            <a:off x="15636240" y="8074152"/>
            <a:ext cx="8046600" cy="313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>
            <a:spLocks noGrp="1"/>
          </p:cNvSpPr>
          <p:nvPr>
            <p:ph type="pic" idx="2"/>
          </p:nvPr>
        </p:nvSpPr>
        <p:spPr>
          <a:xfrm>
            <a:off x="11128248" y="7626096"/>
            <a:ext cx="4078200" cy="40782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- Blue">
  <p:cSld name="Title Slide 2 Line - Yellow_1_2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9475" y="-38100"/>
            <a:ext cx="24502939" cy="13792201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4"/>
          <p:cNvSpPr txBox="1">
            <a:spLocks noGrp="1"/>
          </p:cNvSpPr>
          <p:nvPr>
            <p:ph type="title"/>
          </p:nvPr>
        </p:nvSpPr>
        <p:spPr>
          <a:xfrm>
            <a:off x="13203936" y="2039112"/>
            <a:ext cx="10158900" cy="580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10000"/>
              <a:buFont typeface="Averia Serif Libre"/>
              <a:buNone/>
              <a:defRPr sz="1000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1"/>
          </p:nvPr>
        </p:nvSpPr>
        <p:spPr>
          <a:xfrm>
            <a:off x="15636240" y="8074152"/>
            <a:ext cx="8046600" cy="313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"/>
          <p:cNvSpPr>
            <a:spLocks noGrp="1"/>
          </p:cNvSpPr>
          <p:nvPr>
            <p:ph type="pic" idx="2"/>
          </p:nvPr>
        </p:nvSpPr>
        <p:spPr>
          <a:xfrm>
            <a:off x="11128248" y="7626096"/>
            <a:ext cx="4078200" cy="40782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Title and Body">
  <p:cSld name="CUSTOM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  <a:defRPr sz="6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37">
          <p15:clr>
            <a:srgbClr val="E46962"/>
          </p15:clr>
        </p15:guide>
        <p15:guide id="2" orient="horz" pos="2366">
          <p15:clr>
            <a:srgbClr val="E46962"/>
          </p15:clr>
        </p15:guide>
        <p15:guide id="3" pos="986">
          <p15:clr>
            <a:srgbClr val="E46962"/>
          </p15:clr>
        </p15:guide>
        <p15:guide id="4" pos="14374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Title and Two Columns">
  <p:cSld name="CUSTOM_1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>
            <a:spLocks noGrp="1"/>
          </p:cNvSpPr>
          <p:nvPr>
            <p:ph type="title"/>
          </p:nvPr>
        </p:nvSpPr>
        <p:spPr>
          <a:xfrm>
            <a:off x="1669100" y="1197425"/>
            <a:ext cx="20959500" cy="25584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1"/>
          </p:nvPr>
        </p:nvSpPr>
        <p:spPr>
          <a:xfrm>
            <a:off x="12738675" y="4113625"/>
            <a:ext cx="10058400" cy="81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2"/>
          </p:nvPr>
        </p:nvSpPr>
        <p:spPr>
          <a:xfrm>
            <a:off x="1565900" y="4113725"/>
            <a:ext cx="10058400" cy="81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37">
          <p15:clr>
            <a:srgbClr val="E46962"/>
          </p15:clr>
        </p15:guide>
        <p15:guide id="2" orient="horz" pos="2366">
          <p15:clr>
            <a:srgbClr val="E46962"/>
          </p15:clr>
        </p15:guide>
        <p15:guide id="3" pos="7653">
          <p15:clr>
            <a:srgbClr val="E46962"/>
          </p15:clr>
        </p15:guide>
        <p15:guide id="4" pos="986">
          <p15:clr>
            <a:srgbClr val="E46962"/>
          </p15:clr>
        </p15:guide>
        <p15:guide id="5" pos="14374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Title only">
  <p:cSld name="CUSTOM_2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7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37">
          <p15:clr>
            <a:srgbClr val="E46962"/>
          </p15:clr>
        </p15:guide>
        <p15:guide id="2" orient="horz" pos="2366">
          <p15:clr>
            <a:srgbClr val="E46962"/>
          </p15:clr>
        </p15:guide>
        <p15:guide id="3" pos="986">
          <p15:clr>
            <a:srgbClr val="E46962"/>
          </p15:clr>
        </p15:guide>
        <p15:guide id="4" pos="14374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: Large text only">
  <p:cSld name="Content Slide - Photo 1/3_2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728275" y="2238050"/>
            <a:ext cx="18501300" cy="88554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 - Purple">
  <p:cSld name="Section Title - Purple_1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9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65296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49" name="Google Shape;49;p9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5400000">
            <a:off x="-4953076" y="10082279"/>
            <a:ext cx="11091648" cy="2824542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9"/>
          <p:cNvSpPr txBox="1"/>
          <p:nvPr/>
        </p:nvSpPr>
        <p:spPr>
          <a:xfrm>
            <a:off x="23121528" y="12306300"/>
            <a:ext cx="126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3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9"/>
          <p:cNvSpPr txBox="1"/>
          <p:nvPr/>
        </p:nvSpPr>
        <p:spPr>
          <a:xfrm>
            <a:off x="1133797" y="12306300"/>
            <a:ext cx="126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3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9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3" name="Google Shape;53;p9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10686707">
            <a:off x="-219747" y="-1714084"/>
            <a:ext cx="11091647" cy="2824542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9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9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9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Averia Serif Libre"/>
              <a:buNone/>
              <a:defRPr sz="12000"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Poppins"/>
              <a:buNone/>
              <a:defRPr sz="5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4pPr>
            <a:lvl5pPr lvl="4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5pPr>
            <a:lvl6pPr lvl="5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6pPr>
            <a:lvl7pPr lvl="6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7pPr>
            <a:lvl8pPr lvl="7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8pPr>
            <a:lvl9pPr lvl="8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: Blank ">
  <p:cSld name="Content Slide - Large Conten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/>
          <p:nvPr/>
        </p:nvSpPr>
        <p:spPr>
          <a:xfrm>
            <a:off x="2231380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2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10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10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10"/>
          <p:cNvSpPr txBox="1"/>
          <p:nvPr/>
        </p:nvSpPr>
        <p:spPr>
          <a:xfrm>
            <a:off x="9009750" y="12306300"/>
            <a:ext cx="63645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Images: Title with Picture 1/3">
  <p:cSld name="Content Slide - Photo 1/3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1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127308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1"/>
          <p:cNvSpPr>
            <a:spLocks noGrp="1"/>
          </p:cNvSpPr>
          <p:nvPr>
            <p:ph type="pic" idx="2"/>
          </p:nvPr>
        </p:nvSpPr>
        <p:spPr>
          <a:xfrm>
            <a:off x="15309900" y="0"/>
            <a:ext cx="90741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Slide - Photo 1/2">
  <p:cSld name="Content Slide - Photo 1/3_3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2"/>
          <p:cNvSpPr txBox="1">
            <a:spLocks noGrp="1"/>
          </p:cNvSpPr>
          <p:nvPr>
            <p:ph type="sldNum" idx="12"/>
          </p:nvPr>
        </p:nvSpPr>
        <p:spPr>
          <a:xfrm>
            <a:off x="11610637" y="12661900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8" name="Google Shape;68;p12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95637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2"/>
          <p:cNvSpPr>
            <a:spLocks noGrp="1"/>
          </p:cNvSpPr>
          <p:nvPr>
            <p:ph type="pic" idx="2"/>
          </p:nvPr>
        </p:nvSpPr>
        <p:spPr>
          <a:xfrm>
            <a:off x="12547800" y="0"/>
            <a:ext cx="118362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Slide - Photo 1/4">
  <p:cSld name="Content Slide - Photo 1/4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3"/>
          <p:cNvSpPr txBox="1"/>
          <p:nvPr/>
        </p:nvSpPr>
        <p:spPr>
          <a:xfrm>
            <a:off x="1129663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3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95637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3"/>
          <p:cNvSpPr>
            <a:spLocks noGrp="1"/>
          </p:cNvSpPr>
          <p:nvPr>
            <p:ph type="pic" idx="2"/>
          </p:nvPr>
        </p:nvSpPr>
        <p:spPr>
          <a:xfrm>
            <a:off x="16018675" y="0"/>
            <a:ext cx="83652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Slide - Photo 2/3">
  <p:cSld name="Content Slide - Photo 2/3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4"/>
          <p:cNvSpPr txBox="1"/>
          <p:nvPr/>
        </p:nvSpPr>
        <p:spPr>
          <a:xfrm>
            <a:off x="1129663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4"/>
          <p:cNvSpPr txBox="1">
            <a:spLocks noGrp="1"/>
          </p:cNvSpPr>
          <p:nvPr>
            <p:ph type="sldNum" idx="12"/>
          </p:nvPr>
        </p:nvSpPr>
        <p:spPr>
          <a:xfrm>
            <a:off x="11610637" y="12661900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" name="Google Shape;77;p14"/>
          <p:cNvSpPr txBox="1">
            <a:spLocks noGrp="1"/>
          </p:cNvSpPr>
          <p:nvPr>
            <p:ph type="sldNum" idx="2"/>
          </p:nvPr>
        </p:nvSpPr>
        <p:spPr>
          <a:xfrm>
            <a:off x="11610637" y="12661900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8" name="Google Shape;78;p14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50055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4"/>
          <p:cNvSpPr>
            <a:spLocks noGrp="1"/>
          </p:cNvSpPr>
          <p:nvPr>
            <p:ph type="pic" idx="3"/>
          </p:nvPr>
        </p:nvSpPr>
        <p:spPr>
          <a:xfrm>
            <a:off x="8009350" y="0"/>
            <a:ext cx="163746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hank You - Purple">
  <p:cSld name="Thank You - Purple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/>
          <p:nvPr/>
        </p:nvSpPr>
        <p:spPr>
          <a:xfrm>
            <a:off x="0" y="0"/>
            <a:ext cx="24384001" cy="13716000"/>
          </a:xfrm>
          <a:prstGeom prst="rect">
            <a:avLst/>
          </a:prstGeom>
          <a:solidFill>
            <a:srgbClr val="65296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82" name="Google Shape;82;p15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5400000">
            <a:off x="-4953076" y="10082279"/>
            <a:ext cx="11091647" cy="2824542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5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10686707">
            <a:off x="-219747" y="-1714084"/>
            <a:ext cx="11091647" cy="2824542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5"/>
          <p:cNvSpPr txBox="1"/>
          <p:nvPr/>
        </p:nvSpPr>
        <p:spPr>
          <a:xfrm>
            <a:off x="9210299" y="1230635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5"/>
          <p:cNvSpPr txBox="1"/>
          <p:nvPr/>
        </p:nvSpPr>
        <p:spPr>
          <a:xfrm>
            <a:off x="2312152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3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5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5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Title - Yellow">
  <p:cSld name="Section Title - Yellow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6"/>
          <p:cNvSpPr/>
          <p:nvPr/>
        </p:nvSpPr>
        <p:spPr>
          <a:xfrm flipH="1">
            <a:off x="-1" y="0"/>
            <a:ext cx="24384001" cy="13716000"/>
          </a:xfrm>
          <a:prstGeom prst="rect">
            <a:avLst/>
          </a:prstGeom>
          <a:solidFill>
            <a:srgbClr val="FFEB3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0" name="Google Shape;90;p16"/>
          <p:cNvSpPr txBox="1"/>
          <p:nvPr/>
        </p:nvSpPr>
        <p:spPr>
          <a:xfrm>
            <a:off x="2312152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2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6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Google Shape;92;p16" descr="Image"/>
          <p:cNvPicPr preferRelativeResize="0"/>
          <p:nvPr/>
        </p:nvPicPr>
        <p:blipFill rotWithShape="1">
          <a:blip r:embed="rId3">
            <a:alphaModFix amt="25000"/>
          </a:blip>
          <a:srcRect/>
          <a:stretch/>
        </p:blipFill>
        <p:spPr>
          <a:xfrm>
            <a:off x="22105094" y="5830895"/>
            <a:ext cx="3232826" cy="10304881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6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4" name="Google Shape;94;p16" descr="Image"/>
          <p:cNvPicPr preferRelativeResize="0"/>
          <p:nvPr/>
        </p:nvPicPr>
        <p:blipFill rotWithShape="1">
          <a:blip r:embed="rId3">
            <a:alphaModFix amt="32999"/>
          </a:blip>
          <a:srcRect/>
          <a:stretch/>
        </p:blipFill>
        <p:spPr>
          <a:xfrm rot="5177869">
            <a:off x="3629647" y="-5152440"/>
            <a:ext cx="3232826" cy="1030488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6" descr="Image"/>
          <p:cNvPicPr preferRelativeResize="0"/>
          <p:nvPr/>
        </p:nvPicPr>
        <p:blipFill rotWithShape="1">
          <a:blip r:embed="rId3">
            <a:alphaModFix amt="32999"/>
          </a:blip>
          <a:srcRect/>
          <a:stretch/>
        </p:blipFill>
        <p:spPr>
          <a:xfrm>
            <a:off x="-1616413" y="5830895"/>
            <a:ext cx="3232826" cy="10304881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6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Title - Blue">
  <p:cSld name="Section Title - Orange copy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/>
          <p:nvPr/>
        </p:nvSpPr>
        <p:spPr>
          <a:xfrm>
            <a:off x="0" y="0"/>
            <a:ext cx="24384001" cy="13716000"/>
          </a:xfrm>
          <a:prstGeom prst="rect">
            <a:avLst/>
          </a:prstGeom>
          <a:solidFill>
            <a:srgbClr val="0961A5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9" name="Google Shape;99;p17"/>
          <p:cNvSpPr txBox="1"/>
          <p:nvPr/>
        </p:nvSpPr>
        <p:spPr>
          <a:xfrm>
            <a:off x="2312152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2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0" name="Google Shape;100;p17" descr="Image"/>
          <p:cNvPicPr preferRelativeResize="0"/>
          <p:nvPr/>
        </p:nvPicPr>
        <p:blipFill rotWithShape="1">
          <a:blip r:embed="rId3">
            <a:alphaModFix amt="33000"/>
          </a:blip>
          <a:srcRect/>
          <a:stretch/>
        </p:blipFill>
        <p:spPr>
          <a:xfrm rot="5688933">
            <a:off x="-5642123" y="9879427"/>
            <a:ext cx="10700046" cy="27248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7" descr="Image"/>
          <p:cNvPicPr preferRelativeResize="0"/>
          <p:nvPr/>
        </p:nvPicPr>
        <p:blipFill rotWithShape="1">
          <a:blip r:embed="rId3">
            <a:alphaModFix amt="33000"/>
          </a:blip>
          <a:srcRect/>
          <a:stretch/>
        </p:blipFill>
        <p:spPr>
          <a:xfrm rot="-313130">
            <a:off x="1007162" y="-1362409"/>
            <a:ext cx="10700046" cy="2724818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7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7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7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7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7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Averia Serif Libre"/>
              <a:buNone/>
              <a:defRPr sz="12000"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9pPr>
          </a:lstStyle>
          <a:p>
            <a:endParaRPr/>
          </a:p>
        </p:txBody>
      </p:sp>
      <p:sp>
        <p:nvSpPr>
          <p:cNvPr id="107" name="Google Shape;107;p17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Poppins"/>
              <a:buNone/>
              <a:defRPr sz="5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4pPr>
            <a:lvl5pPr lvl="4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5pPr>
            <a:lvl6pPr lvl="5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6pPr>
            <a:lvl7pPr lvl="6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7pPr>
            <a:lvl8pPr lvl="7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8pPr>
            <a:lvl9pPr lvl="8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669100" y="1197425"/>
            <a:ext cx="20828100" cy="203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8000"/>
              <a:buFont typeface="Averia Serif Libre"/>
              <a:buNone/>
              <a:defRPr sz="8000" b="1" i="0" u="none" strike="noStrike" cap="none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1777950" y="3984175"/>
            <a:ext cx="20828100" cy="82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  <a:defRPr sz="6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/>
          <p:nvPr/>
        </p:nvSpPr>
        <p:spPr>
          <a:xfrm>
            <a:off x="1133856" y="12307824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"/>
          <p:cNvSpPr txBox="1"/>
          <p:nvPr/>
        </p:nvSpPr>
        <p:spPr>
          <a:xfrm>
            <a:off x="20738592" y="12307824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5"/>
          <p:cNvSpPr txBox="1"/>
          <p:nvPr/>
        </p:nvSpPr>
        <p:spPr>
          <a:xfrm>
            <a:off x="13200775" y="2043200"/>
            <a:ext cx="10162500" cy="580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b="1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STOP LOSING</a:t>
            </a:r>
            <a:br>
              <a:rPr lang="en-US" sz="10000" b="1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</a:br>
            <a:r>
              <a:rPr lang="en-US" sz="10000" b="1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SLEEP</a:t>
            </a:r>
            <a:endParaRPr sz="10000" b="1">
              <a:solidFill>
                <a:srgbClr val="953C96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</p:txBody>
      </p:sp>
      <p:pic>
        <p:nvPicPr>
          <p:cNvPr id="233" name="Google Shape;233;p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32325" y="7625725"/>
            <a:ext cx="4076100" cy="40761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34" name="Google Shape;234;p35"/>
          <p:cNvSpPr txBox="1"/>
          <p:nvPr/>
        </p:nvSpPr>
        <p:spPr>
          <a:xfrm>
            <a:off x="15634825" y="8074050"/>
            <a:ext cx="8048400" cy="31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>
                <a:latin typeface="Poppins"/>
                <a:ea typeface="Poppins"/>
                <a:cs typeface="Poppins"/>
                <a:sym typeface="Poppins"/>
              </a:rPr>
              <a:t>Jonathan Franks</a:t>
            </a:r>
            <a:endParaRPr sz="4800" b="1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>
                <a:latin typeface="Poppins"/>
                <a:ea typeface="Poppins"/>
                <a:cs typeface="Poppins"/>
                <a:sym typeface="Poppins"/>
              </a:rPr>
              <a:t>Senior Drupal Developer</a:t>
            </a:r>
            <a:endParaRPr sz="480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>
                <a:latin typeface="Poppins"/>
                <a:ea typeface="Poppins"/>
                <a:cs typeface="Poppins"/>
                <a:sym typeface="Poppins"/>
              </a:rPr>
              <a:t>at Breakthrough Technologies</a:t>
            </a:r>
            <a:endParaRPr sz="480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>
                <a:latin typeface="Poppins"/>
                <a:ea typeface="Poppins"/>
                <a:cs typeface="Poppins"/>
                <a:sym typeface="Poppins"/>
              </a:rPr>
              <a:t>@break_tech</a:t>
            </a:r>
            <a:endParaRPr sz="48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35" name="Google Shape;235;p35"/>
          <p:cNvSpPr txBox="1"/>
          <p:nvPr/>
        </p:nvSpPr>
        <p:spPr>
          <a:xfrm>
            <a:off x="17269375" y="1140025"/>
            <a:ext cx="59790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r>
              <a:rPr lang="en-US" sz="2400" b="1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Behavior Testing with DTT</a:t>
            </a:r>
            <a:r>
              <a:rPr lang="en-US" sz="2400" b="0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   |   </a:t>
            </a:r>
            <a:r>
              <a:rPr lang="en-US" sz="2400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May</a:t>
            </a:r>
            <a:r>
              <a:rPr lang="en-US" sz="2400" b="0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400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12</a:t>
            </a:r>
            <a:r>
              <a:rPr lang="en-US" sz="2400" b="0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, 202</a:t>
            </a:r>
            <a:r>
              <a:rPr lang="en-US" sz="2400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6</a:t>
            </a:r>
            <a:endParaRPr sz="1400" b="0" i="0" u="none" strike="noStrike" cap="none">
              <a:solidFill>
                <a:srgbClr val="65296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65296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0" name="Google Shape;200;p3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blipFill rotWithShape="1">
            <a:blip r:embed="rId2">
              <a:alphaModFix amt="60000"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1" name="Google Shape;201;p31"/>
          <p:cNvSpPr txBox="1"/>
          <p:nvPr/>
        </p:nvSpPr>
        <p:spPr>
          <a:xfrm>
            <a:off x="3935056" y="3860803"/>
            <a:ext cx="16513800" cy="59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r>
              <a:rPr lang="en-US" sz="8000" b="1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It is 3:47 in the morning. You are awake. It has been 12 hours since you deployed to QA.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endParaRPr lang="en-US" sz="8000" b="1" i="0" u="none" strike="noStrike" cap="none" dirty="0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r>
              <a:rPr lang="en-US" sz="8000" b="1" dirty="0">
                <a:solidFill>
                  <a:srgbClr val="FFFFFF"/>
                </a:solidFill>
                <a:latin typeface="Poppins"/>
                <a:cs typeface="Poppins"/>
                <a:sym typeface="Poppins"/>
              </a:rPr>
              <a:t>Does your entire site still work?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TESTING IN DRUPAL</a:t>
            </a:r>
            <a:endParaRPr sz="10000" dirty="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IS… A LOT.</a:t>
            </a:r>
            <a:endParaRPr dirty="0"/>
          </a:p>
        </p:txBody>
      </p:sp>
      <p:sp>
        <p:nvSpPr>
          <p:cNvPr id="257" name="Google Shape;257;p38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2000"/>
              </a:spcBef>
              <a:spcAft>
                <a:spcPts val="0"/>
              </a:spcAft>
              <a:buNone/>
            </a:pPr>
            <a:r>
              <a:rPr lang="en-US" dirty="0"/>
              <a:t>But it is completely worth it.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Title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Show of hands.</a:t>
            </a:r>
            <a:endParaRPr/>
          </a:p>
        </p:txBody>
      </p:sp>
      <p:sp>
        <p:nvSpPr>
          <p:cNvPr id="952" name="Body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900"/>
              </a:spcAft>
              <a:buSzPts val="6000"/>
              <a:buChar char="•"/>
            </a:pPr>
            <a:r>
              <a:rPr lang="en-US" dirty="0"/>
              <a:t>Who’s </a:t>
            </a:r>
            <a:r>
              <a:rPr lang="en-US" b="1" dirty="0"/>
              <a:t>new to automated testing</a:t>
            </a:r>
            <a:r>
              <a:rPr lang="en-US" dirty="0"/>
              <a:t> and needs to be convinced this is a good idea?</a:t>
            </a:r>
          </a:p>
          <a:p>
            <a:pPr marL="457200" lvl="0" indent="-609600" algn="l" rtl="0">
              <a:spcBef>
                <a:spcPts val="0"/>
              </a:spcBef>
              <a:spcAft>
                <a:spcPts val="900"/>
              </a:spcAft>
              <a:buSzPts val="6000"/>
              <a:buChar char="•"/>
            </a:pPr>
            <a:r>
              <a:rPr lang="en-US" dirty="0"/>
              <a:t>Who thinks it’s a great idea but needs to </a:t>
            </a:r>
            <a:r>
              <a:rPr lang="en-US" b="1" dirty="0"/>
              <a:t>convince a boss or client</a:t>
            </a:r>
            <a:r>
              <a:rPr lang="en-US" dirty="0"/>
              <a:t>?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Who thinks it’s a great idea but </a:t>
            </a:r>
            <a:r>
              <a:rPr lang="en-US" b="1" dirty="0"/>
              <a:t>doesn’t know how</a:t>
            </a:r>
            <a:r>
              <a:rPr lang="en-US" dirty="0"/>
              <a:t>?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TESTS ARE PART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OF THE WORK.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707373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6"/>
          <p:cNvSpPr txBox="1">
            <a:spLocks noGrp="1"/>
          </p:cNvSpPr>
          <p:nvPr>
            <p:ph type="title"/>
          </p:nvPr>
        </p:nvSpPr>
        <p:spPr>
          <a:xfrm>
            <a:off x="2728275" y="387985"/>
            <a:ext cx="18501300" cy="88554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8000"/>
              <a:buFont typeface="Poppins"/>
              <a:buNone/>
            </a:pPr>
            <a:r>
              <a:rPr lang="en-US" dirty="0"/>
              <a:t>How do I convince my client to pay for automated testing?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66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8925" y="5930281"/>
            <a:ext cx="9500000" cy="712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5189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3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EB3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18" name="Google Shape;218;p33"/>
          <p:cNvSpPr/>
          <p:nvPr/>
        </p:nvSpPr>
        <p:spPr>
          <a:xfrm>
            <a:off x="6675" y="0"/>
            <a:ext cx="24384000" cy="13716000"/>
          </a:xfrm>
          <a:prstGeom prst="rect">
            <a:avLst/>
          </a:prstGeom>
          <a:blipFill rotWithShape="1">
            <a:blip r:embed="rId2">
              <a:alphaModFix amt="25000"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19" name="Google Shape;219;p33"/>
          <p:cNvSpPr txBox="1"/>
          <p:nvPr/>
        </p:nvSpPr>
        <p:spPr>
          <a:xfrm>
            <a:off x="3935056" y="3860803"/>
            <a:ext cx="16513800" cy="59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r>
              <a:rPr lang="en-US" sz="8000" b="1" i="0" u="none" strike="noStrike" cap="none">
                <a:solidFill>
                  <a:srgbClr val="1F7317"/>
                </a:solidFill>
                <a:latin typeface="Poppins"/>
                <a:ea typeface="Poppins"/>
                <a:cs typeface="Poppins"/>
                <a:sym typeface="Poppins"/>
              </a:rPr>
              <a:t>You don’t.</a:t>
            </a:r>
            <a:endParaRPr sz="1400" b="0" i="0" u="none" strike="noStrike" cap="none">
              <a:solidFill>
                <a:srgbClr val="1F731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33"/>
          <p:cNvSpPr txBox="1"/>
          <p:nvPr/>
        </p:nvSpPr>
        <p:spPr>
          <a:xfrm>
            <a:off x="508000" y="508000"/>
            <a:ext cx="51540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Helvetica Neue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575295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Things you don’t itemize on a quote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Composer.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Version control.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Code review.</a:t>
            </a:r>
            <a:endParaRPr dirty="0"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Configuration management.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Local dev environments.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Linting.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…Automated tests?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762913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WHAT TO TEST.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WHAT TO SKIP.</a:t>
            </a:r>
            <a:endParaRPr/>
          </a:p>
        </p:txBody>
      </p:sp>
      <p:sp>
        <p:nvSpPr>
          <p:cNvPr id="257" name="Google Shape;257;p38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2000"/>
              </a:spcBef>
              <a:spcAft>
                <a:spcPts val="0"/>
              </a:spcAft>
              <a:buNone/>
            </a:pPr>
            <a:r>
              <a:rPr lang="en-US" i="1" dirty="0"/>
              <a:t>Test what your client paid you to build.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>
            <a:spLocks noGrp="1"/>
          </p:cNvSpPr>
          <p:nvPr>
            <p:ph type="title"/>
          </p:nvPr>
        </p:nvSpPr>
        <p:spPr>
          <a:xfrm>
            <a:off x="1669100" y="1197425"/>
            <a:ext cx="20959500" cy="25584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TEST … OR DON’T BOTHER?</a:t>
            </a:r>
            <a:endParaRPr dirty="0"/>
          </a:p>
        </p:txBody>
      </p:sp>
      <p:sp>
        <p:nvSpPr>
          <p:cNvPr id="159" name="Google Shape;159;p25"/>
          <p:cNvSpPr txBox="1">
            <a:spLocks noGrp="1"/>
          </p:cNvSpPr>
          <p:nvPr>
            <p:ph type="body" idx="2"/>
          </p:nvPr>
        </p:nvSpPr>
        <p:spPr>
          <a:xfrm>
            <a:off x="1565900" y="4113725"/>
            <a:ext cx="10058400" cy="81621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TEST: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user story, exactly.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Custom logic you wrote.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Unhappy paths.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Anything you have ever fixed twice. 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2" name="Google Shape;159;p25">
            <a:extLst>
              <a:ext uri="{FF2B5EF4-FFF2-40B4-BE49-F238E27FC236}">
                <a16:creationId xmlns:a16="http://schemas.microsoft.com/office/drawing/2014/main" id="{88E4D94D-A50A-4EE3-64AC-A20E65D45225}"/>
              </a:ext>
            </a:extLst>
          </p:cNvPr>
          <p:cNvSpPr txBox="1">
            <a:spLocks/>
          </p:cNvSpPr>
          <p:nvPr/>
        </p:nvSpPr>
        <p:spPr>
          <a:xfrm>
            <a:off x="12192000" y="4356475"/>
            <a:ext cx="10058400" cy="81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indent="0"/>
            <a:r>
              <a:rPr lang="en-US" dirty="0"/>
              <a:t>DON’T BOTHER: </a:t>
            </a:r>
          </a:p>
          <a:p>
            <a:pPr marL="0" indent="0"/>
            <a:r>
              <a:rPr lang="en-US" dirty="0"/>
              <a:t>That core works the way it should. </a:t>
            </a:r>
          </a:p>
          <a:p>
            <a:pPr marL="0" indent="0"/>
            <a:r>
              <a:rPr lang="en-US" dirty="0"/>
              <a:t>That </a:t>
            </a:r>
            <a:r>
              <a:rPr lang="en-US" dirty="0" err="1"/>
              <a:t>contrib</a:t>
            </a:r>
            <a:r>
              <a:rPr lang="en-US" dirty="0"/>
              <a:t> does what its README says. (You’ll test the features you want in your own behavior tests.)</a:t>
            </a:r>
          </a:p>
          <a:p>
            <a:pPr marL="0" indent="0"/>
            <a:r>
              <a:rPr lang="en-US" dirty="0"/>
              <a:t>Implementation details. </a:t>
            </a:r>
          </a:p>
          <a:p>
            <a:pPr marL="0" indent="0"/>
            <a:r>
              <a:rPr lang="en-US" dirty="0"/>
              <a:t>CSS classes (please). </a:t>
            </a:r>
          </a:p>
          <a:p>
            <a:pPr marL="0" indent="0"/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Title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But how?!?!?!</a:t>
            </a:r>
            <a:endParaRPr/>
          </a:p>
        </p:txBody>
      </p:sp>
      <p:pic>
        <p:nvPicPr>
          <p:cNvPr id="1102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2000" y="3500000"/>
            <a:ext cx="12000000" cy="80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Your four options</a:t>
            </a:r>
            <a:endParaRPr dirty="0"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Unit tests: fast, isolated, but you end up testing your mocks as much as your functionality.</a:t>
            </a:r>
            <a:endParaRPr dirty="0"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Kernel tests: half a Drupal. Real DB. No site.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Functional / </a:t>
            </a:r>
            <a:r>
              <a:rPr lang="en-US" dirty="0" err="1"/>
              <a:t>FunctionalJS</a:t>
            </a:r>
            <a:r>
              <a:rPr lang="en-US" dirty="0"/>
              <a:t>: full Drupal that reinstalls every run. Slow. No real data.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 err="1"/>
              <a:t>Behat</a:t>
            </a:r>
            <a:r>
              <a:rPr lang="en-US" dirty="0"/>
              <a:t>: a BDD framework, pushed well beyond its limits.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8921AE24-8176-1CCA-9A35-A5FD324C8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>
            <a:extLst>
              <a:ext uri="{FF2B5EF4-FFF2-40B4-BE49-F238E27FC236}">
                <a16:creationId xmlns:a16="http://schemas.microsoft.com/office/drawing/2014/main" id="{14DB1595-4FED-CE40-FF50-A4E343B36A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Wait, another option?</a:t>
            </a:r>
            <a:endParaRPr dirty="0"/>
          </a:p>
        </p:txBody>
      </p:sp>
      <p:pic>
        <p:nvPicPr>
          <p:cNvPr id="2" name="Picture 2" descr="Fifth Meat Beef and Dairy Network Podcast - Beef And Dairy Network - Pin |  TeePublic">
            <a:extLst>
              <a:ext uri="{FF2B5EF4-FFF2-40B4-BE49-F238E27FC236}">
                <a16:creationId xmlns:a16="http://schemas.microsoft.com/office/drawing/2014/main" id="{B4070849-0093-1792-1DF7-155E794D87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6980" y="3201327"/>
            <a:ext cx="8001000" cy="800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7605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DRUPAL TEST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TRAITS.</a:t>
            </a:r>
            <a:endParaRPr/>
          </a:p>
        </p:txBody>
      </p:sp>
      <p:sp>
        <p:nvSpPr>
          <p:cNvPr id="257" name="Google Shape;257;p38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2000"/>
              </a:spcBef>
              <a:spcAft>
                <a:spcPts val="0"/>
              </a:spcAft>
              <a:buNone/>
            </a:pPr>
            <a:r>
              <a:rPr lang="en-US"/>
              <a:t>drupal.org/project/dtt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6"/>
          <p:cNvSpPr txBox="1">
            <a:spLocks noGrp="1"/>
          </p:cNvSpPr>
          <p:nvPr>
            <p:ph type="title"/>
          </p:nvPr>
        </p:nvSpPr>
        <p:spPr>
          <a:xfrm>
            <a:off x="2728275" y="2238050"/>
            <a:ext cx="18501300" cy="88554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8000"/>
              <a:buFont typeface="Poppins"/>
              <a:buNone/>
            </a:pPr>
            <a:r>
              <a:rPr lang="en-US" dirty="0" err="1"/>
              <a:t>PHPUnit</a:t>
            </a:r>
            <a:r>
              <a:rPr lang="en-US" dirty="0"/>
              <a:t> tests against your already-installed dev site. With your real config and real content. </a:t>
            </a:r>
            <a:br>
              <a:rPr lang="en-US" dirty="0"/>
            </a:br>
            <a:r>
              <a:rPr lang="en-US" dirty="0"/>
              <a:t>No reinstall. No mocks.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Why it changes everything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Uses Drupal APIs to write test data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Cleans up its own data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DEMOS!</a:t>
            </a:r>
            <a:endParaRPr sz="10000" dirty="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SHOW ME THE DTT!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TREASURES.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STEAL THESE.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Title"/>
          <p:cNvSpPr txBox="1">
            <a:spLocks noGrp="1"/>
          </p:cNvSpPr>
          <p:nvPr>
            <p:ph type="title"/>
          </p:nvPr>
        </p:nvSpPr>
        <p:spPr>
          <a:xfrm>
            <a:off x="1616850" y="900000"/>
            <a:ext cx="21201300" cy="170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Lift these from the repo</a:t>
            </a:r>
            <a:endParaRPr/>
          </a:p>
        </p:txBody>
      </p:sp>
      <p:sp>
        <p:nvSpPr>
          <p:cNvPr id="802" name="Body"/>
          <p:cNvSpPr txBox="1">
            <a:spLocks noGrp="1"/>
          </p:cNvSpPr>
          <p:nvPr>
            <p:ph type="body" idx="1"/>
          </p:nvPr>
        </p:nvSpPr>
        <p:spPr>
          <a:xfrm>
            <a:off x="1616700" y="2700000"/>
            <a:ext cx="21201300" cy="1030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40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JackotopiaTestBase</a:t>
            </a:r>
            <a:r>
              <a:rPr lang="en-US" sz="3600" dirty="0"/>
              <a:t> — the base class. Extend it and you get all of this for free.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2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drupalGet()</a:t>
            </a:r>
            <a:r>
              <a:rPr lang="en-US" sz="2400" dirty="0"/>
              <a:t> pre-seeds the </a:t>
            </a:r>
            <a:r>
              <a:rPr lang="en-US" sz="2400" dirty="0">
                <a:latin typeface="Courier New"/>
                <a:cs typeface="Courier New"/>
              </a:rPr>
              <a:t>big_pipe_nojs=1</a:t>
            </a:r>
            <a:r>
              <a:rPr lang="en-US" sz="2400" dirty="0"/>
              <a:t> cookie so BigPipe renders placeholders inline. No more silently-missing flash messages.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2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drupalGet()</a:t>
            </a:r>
            <a:r>
              <a:rPr lang="en-US" sz="2400" dirty="0"/>
              <a:t> and </a:t>
            </a:r>
            <a:r>
              <a:rPr lang="en-US" sz="2400" dirty="0">
                <a:latin typeface="Courier New"/>
                <a:cs typeface="Courier New"/>
              </a:rPr>
              <a:t>click()</a:t>
            </a:r>
            <a:r>
              <a:rPr lang="en-US" sz="2400" dirty="0"/>
              <a:t> auto-call </a:t>
            </a:r>
            <a:r>
              <a:rPr lang="en-US" sz="2400" dirty="0">
                <a:latin typeface="Courier New"/>
                <a:cs typeface="Courier New"/>
              </a:rPr>
              <a:t>assertNoErrorMessage()</a:t>
            </a:r>
            <a:r>
              <a:rPr lang="en-US" sz="2400" dirty="0"/>
              <a:t>. Every page load gets a free error check.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2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assertNoErrorMessage()</a:t>
            </a:r>
            <a:r>
              <a:rPr lang="en-US" sz="2400" dirty="0"/>
              <a:t> looks for </a:t>
            </a:r>
            <a:r>
              <a:rPr lang="en-US" sz="2400" dirty="0">
                <a:latin typeface="Courier New"/>
                <a:cs typeface="Courier New"/>
              </a:rPr>
              <a:t>.messages--error</a:t>
            </a:r>
            <a:r>
              <a:rPr lang="en-US" sz="2400" dirty="0"/>
              <a:t>, </a:t>
            </a:r>
            <a:r>
              <a:rPr lang="en-US" sz="2400" dirty="0">
                <a:latin typeface="Courier New"/>
                <a:cs typeface="Courier New"/>
              </a:rPr>
              <a:t>.alert-danger</a:t>
            </a:r>
            <a:r>
              <a:rPr lang="en-US" sz="2400" dirty="0"/>
              <a:t>, and the usual “unexpected error / Notice / Warning” texts.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5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clickLinkWithExplicitErrorMessageCheck()</a:t>
            </a:r>
            <a:r>
              <a:rPr lang="en-US" sz="2400" dirty="0"/>
              <a:t> opts out of the auto-check when a test </a:t>
            </a:r>
            <a:r>
              <a:rPr lang="en-US" sz="2400" i="1" dirty="0"/>
              <a:t>should</a:t>
            </a:r>
            <a:r>
              <a:rPr lang="en-US" sz="2400" dirty="0"/>
              <a:t> assert a specific error is present.</a:t>
            </a:r>
          </a:p>
          <a:p>
            <a:pPr marL="457200" lvl="0" indent="-609600" algn="l" rtl="0">
              <a:spcBef>
                <a:spcPts val="0"/>
              </a:spcBef>
              <a:spcAft>
                <a:spcPts val="40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ConfigTrait</a:t>
            </a:r>
            <a:r>
              <a:rPr lang="en-US" sz="3600" dirty="0"/>
              <a:t> — </a:t>
            </a:r>
            <a:r>
              <a:rPr lang="en-US" sz="3600" dirty="0">
                <a:latin typeface="Courier New"/>
                <a:cs typeface="Courier New"/>
              </a:rPr>
              <a:t>getConfig($name)</a:t>
            </a:r>
            <a:r>
              <a:rPr lang="en-US" sz="3600" dirty="0"/>
              <a:t> and </a:t>
            </a:r>
            <a:r>
              <a:rPr lang="en-US" sz="3600" dirty="0">
                <a:latin typeface="Courier New"/>
                <a:cs typeface="Courier New"/>
              </a:rPr>
              <a:t>assertConfigValue($name, $key, $expected)</a:t>
            </a:r>
            <a:r>
              <a:rPr lang="en-US" sz="3600" dirty="0"/>
              <a:t>. One-liner config assertions at dotted key paths.</a:t>
            </a:r>
          </a:p>
          <a:p>
            <a:pPr marL="457200" lvl="0" indent="-609600" algn="l" rtl="0">
              <a:spcBef>
                <a:spcPts val="0"/>
              </a:spcBef>
              <a:spcAft>
                <a:spcPts val="40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DebugTrait::pauseForUserInput()</a:t>
            </a:r>
            <a:r>
              <a:rPr lang="en-US" sz="3600" dirty="0"/>
              <a:t> — drop it into a running test, halts on STDIN. Click around the live site mid-test, press Return to continue.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NodeContentTrait</a:t>
            </a:r>
            <a:r>
              <a:rPr lang="en-US" sz="3600" dirty="0"/>
              <a:t> — </a:t>
            </a:r>
            <a:r>
              <a:rPr lang="en-US" sz="3600" dirty="0">
                <a:latin typeface="Courier New"/>
                <a:cs typeface="Courier New"/>
              </a:rPr>
              <a:t>unpublishNodesOfBundle()</a:t>
            </a:r>
            <a:r>
              <a:rPr lang="en-US" sz="3600" dirty="0"/>
              <a:t> wipes a content type for the duration of the test; </a:t>
            </a:r>
            <a:r>
              <a:rPr lang="en-US" sz="3600" dirty="0">
                <a:latin typeface="Courier New"/>
                <a:cs typeface="Courier New"/>
              </a:rPr>
              <a:t>republishUnpublishedNodes()</a:t>
            </a:r>
            <a:r>
              <a:rPr lang="en-US" sz="3600" dirty="0"/>
              <a:t> restores them in tearDown. Assert “the empty state” without nuking real content.</a:t>
            </a:r>
            <a:endParaRPr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deal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/>
              <a:t>Solidify your work. Prevent regressions. Develop faster.</a:t>
            </a:r>
            <a:endParaRPr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/>
              <a:t>Be more reliable. Get more sleep.</a:t>
            </a:r>
            <a:endParaRPr/>
          </a:p>
        </p:txBody>
      </p:sp>
      <p:pic>
        <p:nvPicPr>
          <p:cNvPr id="154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0000" y="6500000"/>
            <a:ext cx="9500000" cy="632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Resources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/>
              <a:t>drupal.org/project/dtt</a:t>
            </a:r>
            <a:endParaRPr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/>
              <a:t>breaktech.com — my article on why testing matters + the slide repo (add your URL)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0"/>
          <p:cNvSpPr txBox="1"/>
          <p:nvPr/>
        </p:nvSpPr>
        <p:spPr>
          <a:xfrm>
            <a:off x="4922730" y="5365650"/>
            <a:ext cx="14538600" cy="29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r>
              <a:rPr lang="en-US" sz="10000" b="1" i="0" u="none" strike="noStrike" cap="none">
                <a:solidFill>
                  <a:srgbClr val="66BD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THANK YOU. </a:t>
            </a:r>
            <a:r>
              <a:rPr lang="en-US" sz="10000" b="1" i="0" u="none" strike="noStrike" cap="none">
                <a:solidFill>
                  <a:srgbClr val="FFFF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QUESTIONS?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8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0000" y="2500000"/>
            <a:ext cx="5500000" cy="8252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1"/>
          <p:cNvSpPr txBox="1"/>
          <p:nvPr/>
        </p:nvSpPr>
        <p:spPr>
          <a:xfrm>
            <a:off x="2109300" y="3194400"/>
            <a:ext cx="20165400" cy="73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r>
              <a:rPr lang="en-US" sz="10000" b="1" i="0" u="none" strike="noStrike" cap="none">
                <a:solidFill>
                  <a:srgbClr val="66BD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PLEASE PROVIDE YOUR FEEDBACK!</a:t>
            </a:r>
            <a:endParaRPr sz="10000" b="1" i="0" u="none" strike="noStrike" cap="none">
              <a:solidFill>
                <a:srgbClr val="66BDFF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endParaRPr sz="5000" b="1" i="0" u="none" strike="noStrike" cap="none">
              <a:solidFill>
                <a:srgbClr val="FFEB36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r>
              <a:rPr lang="en-US" sz="5000">
                <a:solidFill>
                  <a:srgbClr val="F8F9FA"/>
                </a:solidFill>
                <a:latin typeface="Poppins"/>
                <a:ea typeface="Poppins"/>
                <a:cs typeface="Poppins"/>
                <a:sym typeface="Poppins"/>
              </a:rPr>
              <a:t>mid.camp/29</a:t>
            </a:r>
            <a:endParaRPr sz="5000" b="0" i="0" u="none" strike="noStrike" cap="none">
              <a:solidFill>
                <a:srgbClr val="F8F9F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endParaRPr sz="5000" b="1" i="0" u="none" strike="noStrike" cap="none">
              <a:solidFill>
                <a:srgbClr val="FFFFFF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endParaRPr sz="6000" b="0" i="0" u="none" strike="noStrike" cap="none">
              <a:solidFill>
                <a:srgbClr val="F8F9F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2"/>
          <p:cNvSpPr txBox="1"/>
          <p:nvPr/>
        </p:nvSpPr>
        <p:spPr>
          <a:xfrm>
            <a:off x="7906250" y="3702175"/>
            <a:ext cx="14522100" cy="24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r>
              <a:rPr lang="en-US" sz="10000" b="1" i="0" u="none" strike="noStrike" cap="none">
                <a:solidFill>
                  <a:srgbClr val="66BD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CONTRIBUTION DAY</a:t>
            </a:r>
            <a:endParaRPr sz="10000" b="1" i="0" u="none" strike="noStrike" cap="none">
              <a:solidFill>
                <a:srgbClr val="66BDFF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r>
              <a:rPr lang="en-US" sz="8000">
                <a:solidFill>
                  <a:srgbClr val="66BDFF"/>
                </a:solidFill>
                <a:latin typeface="Poppins"/>
                <a:ea typeface="Poppins"/>
                <a:cs typeface="Poppins"/>
                <a:sym typeface="Poppins"/>
              </a:rPr>
              <a:t>Thursday</a:t>
            </a:r>
            <a:r>
              <a:rPr lang="en-US" sz="8000" b="0" i="0" u="none" strike="noStrike" cap="none">
                <a:solidFill>
                  <a:srgbClr val="66BDFF"/>
                </a:solidFill>
                <a:latin typeface="Poppins"/>
                <a:ea typeface="Poppins"/>
                <a:cs typeface="Poppins"/>
                <a:sym typeface="Poppins"/>
              </a:rPr>
              <a:t> 10:00 AM to 4:00 PM</a:t>
            </a:r>
            <a:endParaRPr sz="8000" b="0" i="0" u="none" strike="noStrike" cap="none">
              <a:solidFill>
                <a:srgbClr val="66BD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80" name="Google Shape;280;p42"/>
          <p:cNvSpPr txBox="1"/>
          <p:nvPr/>
        </p:nvSpPr>
        <p:spPr>
          <a:xfrm>
            <a:off x="7906250" y="6306100"/>
            <a:ext cx="14522100" cy="429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</a:pPr>
            <a:r>
              <a:rPr lang="en-US" sz="4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You don't have to know code to give back!</a:t>
            </a:r>
            <a:endParaRPr sz="40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endParaRPr sz="40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r>
              <a:rPr lang="en-US" sz="4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New Contributor training </a:t>
            </a:r>
            <a:r>
              <a:rPr lang="en-US" sz="4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9:00 AM</a:t>
            </a:r>
            <a:r>
              <a:rPr lang="en-US" sz="4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 to </a:t>
            </a:r>
            <a:r>
              <a:rPr lang="en-US" sz="4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10:00 AM</a:t>
            </a:r>
            <a:endParaRPr sz="40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1" name="Google Shape;281;p4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603400" y="4239949"/>
            <a:ext cx="5000625" cy="6191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48"/>
          <p:cNvSpPr txBox="1"/>
          <p:nvPr/>
        </p:nvSpPr>
        <p:spPr>
          <a:xfrm>
            <a:off x="5946625" y="3702175"/>
            <a:ext cx="16481700" cy="24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300" b="1">
                <a:solidFill>
                  <a:srgbClr val="1F7317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Drupal Coffee Exchange</a:t>
            </a: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300" b="1">
                <a:solidFill>
                  <a:srgbClr val="1F7317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at MidCamp</a:t>
            </a: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</p:txBody>
      </p:sp>
      <p:sp>
        <p:nvSpPr>
          <p:cNvPr id="318" name="Google Shape;318;p48"/>
          <p:cNvSpPr txBox="1"/>
          <p:nvPr/>
        </p:nvSpPr>
        <p:spPr>
          <a:xfrm>
            <a:off x="7906250" y="7753900"/>
            <a:ext cx="14522100" cy="429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Bring a bag of beans,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Leave with a bag of beans.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That’s how it works.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MidCamp is in Chicago May 12-14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19" name="Google Shape;319;p4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17600" y="658550"/>
            <a:ext cx="4858300" cy="6015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76" y="5953650"/>
            <a:ext cx="6838806" cy="541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Title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Cat photo credits</a:t>
            </a:r>
            <a:endParaRPr/>
          </a:p>
        </p:txBody>
      </p:sp>
      <p:sp>
        <p:nvSpPr>
          <p:cNvPr id="1002" name="Body"/>
          <p:cNvSpPr txBox="1">
            <a:spLocks noGrp="1"/>
          </p:cNvSpPr>
          <p:nvPr>
            <p:ph type="body" idx="1"/>
          </p:nvPr>
        </p:nvSpPr>
        <p:spPr>
          <a:xfrm>
            <a:off x="1616700" y="3300000"/>
            <a:ext cx="21201300" cy="950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2 — Madalyn Cox (Unsplash)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6 — Govit Pimthong (Pexels)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7 — Zoshua Colah (Unsplash)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11 — Maxim Tolchinskiy (Unsplash)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20 — Gaelle Marcel (Unsplash)</a:t>
            </a:r>
          </a:p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800" dirty="0"/>
              <a:t>Slide 22 — Drew (Unsplash)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i="1" dirty="0"/>
              <a:t>Thanks to the photographers and to the Unsplash and Pexels communities. Free-with-attribution licensing makes talks like this possible.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Camp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</TotalTime>
  <Words>782</Words>
  <Application>Microsoft Macintosh PowerPoint</Application>
  <PresentationFormat>Custom</PresentationFormat>
  <Paragraphs>156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Averia Serif Libre</vt:lpstr>
      <vt:lpstr>Courier New</vt:lpstr>
      <vt:lpstr>Poppins</vt:lpstr>
      <vt:lpstr>Helvetica Neue Light</vt:lpstr>
      <vt:lpstr>Arial</vt:lpstr>
      <vt:lpstr>Helvetica Neue</vt:lpstr>
      <vt:lpstr>MidCamp</vt:lpstr>
      <vt:lpstr>PowerPoint Presentation</vt:lpstr>
      <vt:lpstr>PowerPoint Presentation</vt:lpstr>
      <vt:lpstr>         TESTING IN DRUPAL IS… A LOT.</vt:lpstr>
      <vt:lpstr>Show of hands.</vt:lpstr>
      <vt:lpstr>         TESTS ARE PART OF THE WORK.</vt:lpstr>
      <vt:lpstr>How do I convince my client to pay for automated testing? </vt:lpstr>
      <vt:lpstr>PowerPoint Presentation</vt:lpstr>
      <vt:lpstr>Things you don’t itemize on a quote</vt:lpstr>
      <vt:lpstr>         WHAT TO TEST. WHAT TO SKIP.</vt:lpstr>
      <vt:lpstr>TEST … OR DON’T BOTHER?</vt:lpstr>
      <vt:lpstr>But how?!?!?!</vt:lpstr>
      <vt:lpstr>Your four options</vt:lpstr>
      <vt:lpstr>Wait, another option?</vt:lpstr>
      <vt:lpstr>         DRUPAL TEST TRAITS.</vt:lpstr>
      <vt:lpstr>PHPUnit tests against your already-installed dev site. With your real config and real content.  No reinstall. No mocks. </vt:lpstr>
      <vt:lpstr>Why it changes everything</vt:lpstr>
      <vt:lpstr>         DEMOS! SHOW ME THE DTT!</vt:lpstr>
      <vt:lpstr>         TREASURES. STEAL THESE.</vt:lpstr>
      <vt:lpstr>Lift these from the repo</vt:lpstr>
      <vt:lpstr>The deal</vt:lpstr>
      <vt:lpstr>Resources</vt:lpstr>
      <vt:lpstr>PowerPoint Presentation</vt:lpstr>
      <vt:lpstr>PowerPoint Presentation</vt:lpstr>
      <vt:lpstr>PowerPoint Presentation</vt:lpstr>
      <vt:lpstr>PowerPoint Presentation</vt:lpstr>
      <vt:lpstr>Cat photo credits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Jonathan Franks</cp:lastModifiedBy>
  <cp:revision>10</cp:revision>
  <dcterms:modified xsi:type="dcterms:W3CDTF">2026-05-09T01:09:26Z</dcterms:modified>
</cp:coreProperties>
</file>