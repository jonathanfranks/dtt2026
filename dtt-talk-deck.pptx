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64" r:id="rId1"/>
  </p:sldMasterIdLst>
  <p:notesMasterIdLst>
    <p:notesMasterId r:id="rId29"/>
  </p:notesMasterIdLst>
  <p:sldIdLst>
    <p:sldId id="291" r:id="rId2"/>
    <p:sldId id="321" r:id="rId3"/>
    <p:sldId id="292" r:id="rId4"/>
    <p:sldId id="303" r:id="rId5"/>
    <p:sldId id="304" r:id="rId6"/>
    <p:sldId id="302" r:id="rId7"/>
    <p:sldId id="305" r:id="rId8"/>
    <p:sldId id="299" r:id="rId9"/>
    <p:sldId id="300" r:id="rId10"/>
    <p:sldId id="323" r:id="rId11"/>
    <p:sldId id="293" r:id="rId12"/>
    <p:sldId id="294" r:id="rId13"/>
    <p:sldId id="319" r:id="rId14"/>
    <p:sldId id="295" r:id="rId15"/>
    <p:sldId id="296" r:id="rId16"/>
    <p:sldId id="297" r:id="rId17"/>
    <p:sldId id="298" r:id="rId18"/>
    <p:sldId id="324" r:id="rId19"/>
    <p:sldId id="310" r:id="rId20"/>
    <p:sldId id="311" r:id="rId21"/>
    <p:sldId id="312" r:id="rId22"/>
    <p:sldId id="314" r:id="rId23"/>
    <p:sldId id="317" r:id="rId24"/>
    <p:sldId id="318" r:id="rId25"/>
    <p:sldId id="315" r:id="rId26"/>
    <p:sldId id="316" r:id="rId27"/>
    <p:sldId id="322" r:id="rId28"/>
  </p:sldIdLst>
  <p:sldSz cx="24384000" cy="13716000"/>
  <p:notesSz cx="6858000" cy="9144000"/>
  <p:embeddedFontLst>
    <p:embeddedFont>
      <p:font typeface="Averia Serif Libre" panose="02000603000000000004" pitchFamily="2" charset="0"/>
      <p:regular r:id="rId30"/>
      <p:bold r:id="rId31"/>
      <p:italic r:id="rId32"/>
      <p:boldItalic r:id="rId33"/>
    </p:embeddedFont>
    <p:embeddedFont>
      <p:font typeface="Helvetica Neue" panose="02000503000000020004" pitchFamily="2" charset="0"/>
      <p:regular r:id="rId34"/>
      <p:bold r:id="rId35"/>
      <p:italic r:id="rId36"/>
      <p:boldItalic r:id="rId37"/>
    </p:embeddedFont>
    <p:embeddedFont>
      <p:font typeface="Helvetica Neue Light" panose="02000403000000020004" pitchFamily="2" charset="0"/>
      <p:regular r:id="rId38"/>
      <p:bold r:id="rId39"/>
      <p:italic r:id="rId40"/>
      <p:boldItalic r:id="rId41"/>
    </p:embeddedFont>
    <p:embeddedFont>
      <p:font typeface="Poppins" pitchFamily="2" charset="77"/>
      <p:regular r:id="rId42"/>
      <p:bold r:id="rId43"/>
      <p:italic r:id="rId44"/>
      <p:boldItalic r:id="rId45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9279"/>
    <p:restoredTop sz="94689"/>
  </p:normalViewPr>
  <p:slideViewPr>
    <p:cSldViewPr snapToGrid="0">
      <p:cViewPr varScale="1">
        <p:scale>
          <a:sx n="127" d="100"/>
          <a:sy n="127" d="100"/>
        </p:scale>
        <p:origin x="424" y="2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font" Target="fonts/font10.fntdata"/><Relationship Id="rId21" Type="http://schemas.openxmlformats.org/officeDocument/2006/relationships/slide" Target="slides/slide20.xml"/><Relationship Id="rId34" Type="http://schemas.openxmlformats.org/officeDocument/2006/relationships/font" Target="fonts/font5.fntdata"/><Relationship Id="rId42" Type="http://schemas.openxmlformats.org/officeDocument/2006/relationships/font" Target="fonts/font13.fntdata"/><Relationship Id="rId47" Type="http://schemas.openxmlformats.org/officeDocument/2006/relationships/viewProps" Target="view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notesMaster" Target="notesMasters/notesMaster1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font" Target="fonts/font3.fntdata"/><Relationship Id="rId37" Type="http://schemas.openxmlformats.org/officeDocument/2006/relationships/font" Target="fonts/font8.fntdata"/><Relationship Id="rId40" Type="http://schemas.openxmlformats.org/officeDocument/2006/relationships/font" Target="fonts/font11.fntdata"/><Relationship Id="rId45" Type="http://schemas.openxmlformats.org/officeDocument/2006/relationships/font" Target="fonts/font16.fntdata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font" Target="fonts/font7.fntdata"/><Relationship Id="rId49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font" Target="fonts/font2.fntdata"/><Relationship Id="rId44" Type="http://schemas.openxmlformats.org/officeDocument/2006/relationships/font" Target="fonts/font15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font" Target="fonts/font1.fntdata"/><Relationship Id="rId35" Type="http://schemas.openxmlformats.org/officeDocument/2006/relationships/font" Target="fonts/font6.fntdata"/><Relationship Id="rId43" Type="http://schemas.openxmlformats.org/officeDocument/2006/relationships/font" Target="fonts/font14.fntdata"/><Relationship Id="rId48" Type="http://schemas.openxmlformats.org/officeDocument/2006/relationships/theme" Target="theme/theme1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font" Target="fonts/font4.fntdata"/><Relationship Id="rId38" Type="http://schemas.openxmlformats.org/officeDocument/2006/relationships/font" Target="fonts/font9.fntdata"/><Relationship Id="rId46" Type="http://schemas.openxmlformats.org/officeDocument/2006/relationships/presProps" Target="presProps.xml"/><Relationship Id="rId20" Type="http://schemas.openxmlformats.org/officeDocument/2006/relationships/slide" Target="slides/slide19.xml"/><Relationship Id="rId41" Type="http://schemas.openxmlformats.org/officeDocument/2006/relationships/font" Target="fonts/font12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117999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2200" b="0" i="0" u="none" strike="noStrike" cap="none">
                <a:solidFill>
                  <a:srgbClr val="000000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1pPr>
            <a:lvl2pPr marL="914400" marR="0" lvl="1" indent="-228600" algn="l" rtl="0">
              <a:lnSpc>
                <a:spcPct val="117999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2200" b="0" i="0" u="none" strike="noStrike" cap="none">
                <a:solidFill>
                  <a:srgbClr val="000000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2pPr>
            <a:lvl3pPr marL="1371600" marR="0" lvl="2" indent="-228600" algn="l" rtl="0">
              <a:lnSpc>
                <a:spcPct val="117999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2200" b="0" i="0" u="none" strike="noStrike" cap="none">
                <a:solidFill>
                  <a:srgbClr val="000000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3pPr>
            <a:lvl4pPr marL="1828800" marR="0" lvl="3" indent="-228600" algn="l" rtl="0">
              <a:lnSpc>
                <a:spcPct val="117999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2200" b="0" i="0" u="none" strike="noStrike" cap="none">
                <a:solidFill>
                  <a:srgbClr val="000000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4pPr>
            <a:lvl5pPr marL="2286000" marR="0" lvl="4" indent="-228600" algn="l" rtl="0">
              <a:lnSpc>
                <a:spcPct val="117999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2200" b="0" i="0" u="none" strike="noStrike" cap="none">
                <a:solidFill>
                  <a:srgbClr val="000000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5pPr>
            <a:lvl6pPr marL="2743200" marR="0" lvl="5" indent="-228600" algn="l" rtl="0">
              <a:lnSpc>
                <a:spcPct val="117999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2200" b="0" i="0" u="none" strike="noStrike" cap="none">
                <a:solidFill>
                  <a:srgbClr val="000000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6pPr>
            <a:lvl7pPr marL="3200400" marR="0" lvl="6" indent="-228600" algn="l" rtl="0">
              <a:lnSpc>
                <a:spcPct val="117999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2200" b="0" i="0" u="none" strike="noStrike" cap="none">
                <a:solidFill>
                  <a:srgbClr val="000000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7pPr>
            <a:lvl8pPr marL="3657600" marR="0" lvl="7" indent="-228600" algn="l" rtl="0">
              <a:lnSpc>
                <a:spcPct val="117999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2200" b="0" i="0" u="none" strike="noStrike" cap="none">
                <a:solidFill>
                  <a:srgbClr val="000000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8pPr>
            <a:lvl9pPr marL="4114800" marR="0" lvl="8" indent="-228600" algn="l" rtl="0">
              <a:lnSpc>
                <a:spcPct val="117999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2200" b="0" i="0" u="none" strike="noStrike" cap="none">
                <a:solidFill>
                  <a:srgbClr val="000000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hyperlink" Target="http://midcamp.org" TargetMode="External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hyperlink" Target="http://midcamp.org" TargetMode="External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3" Type="http://schemas.openxmlformats.org/officeDocument/2006/relationships/hyperlink" Target="http://midcamp.org" TargetMode="External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hyperlink" Target="http://midcamp.org" TargetMode="External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hyperlink" Target="http://midcamp.org" TargetMode="External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Title Slide  - Purple">
  <p:cSld name="Title Slide 2 Line - Yellow_1_1">
    <p:spTree>
      <p:nvGrpSpPr>
        <p:cNvPr id="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Google Shape;12;p2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-56600" y="-28262"/>
            <a:ext cx="24484476" cy="13772517"/>
          </a:xfrm>
          <a:prstGeom prst="rect">
            <a:avLst/>
          </a:prstGeom>
          <a:noFill/>
          <a:ln>
            <a:noFill/>
          </a:ln>
        </p:spPr>
      </p:pic>
      <p:sp>
        <p:nvSpPr>
          <p:cNvPr id="13" name="Google Shape;13;p2"/>
          <p:cNvSpPr txBox="1"/>
          <p:nvPr/>
        </p:nvSpPr>
        <p:spPr>
          <a:xfrm>
            <a:off x="1133797" y="12306300"/>
            <a:ext cx="1742400" cy="35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Poppins"/>
              <a:buNone/>
            </a:pPr>
            <a:r>
              <a:rPr lang="en-US" sz="2000" b="0" i="0" u="none" strike="noStrike" cap="none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rPr>
              <a:t>midcamp.org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" name="Google Shape;14;p2"/>
          <p:cNvSpPr txBox="1"/>
          <p:nvPr/>
        </p:nvSpPr>
        <p:spPr>
          <a:xfrm>
            <a:off x="20742564" y="12306300"/>
            <a:ext cx="2505900" cy="35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Poppins"/>
              <a:buNone/>
            </a:pPr>
            <a:r>
              <a:rPr lang="en-US" sz="2000" b="0" i="0" u="none" strike="noStrike" cap="none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info@midcamp.org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" name="Google Shape;15;p2"/>
          <p:cNvSpPr txBox="1"/>
          <p:nvPr/>
        </p:nvSpPr>
        <p:spPr>
          <a:xfrm>
            <a:off x="9203949" y="12306300"/>
            <a:ext cx="5963400" cy="35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000"/>
              <a:buFont typeface="Poppins"/>
              <a:buNone/>
            </a:pPr>
            <a:r>
              <a:rPr lang="en-US" sz="2000">
                <a:latin typeface="Poppins"/>
                <a:ea typeface="Poppins"/>
                <a:cs typeface="Poppins"/>
                <a:sym typeface="Poppins"/>
              </a:rPr>
              <a:t>MidCamp 2026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" name="Google Shape;16;p2"/>
          <p:cNvSpPr txBox="1">
            <a:spLocks noGrp="1"/>
          </p:cNvSpPr>
          <p:nvPr>
            <p:ph type="title"/>
          </p:nvPr>
        </p:nvSpPr>
        <p:spPr>
          <a:xfrm>
            <a:off x="13203936" y="2039112"/>
            <a:ext cx="10158900" cy="5806500"/>
          </a:xfrm>
          <a:prstGeom prst="rect">
            <a:avLst/>
          </a:prstGeom>
        </p:spPr>
        <p:txBody>
          <a:bodyPr spcFirstLastPara="1" wrap="square" lIns="50800" tIns="50800" rIns="50800" bIns="50800" anchor="t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Clr>
                <a:srgbClr val="953C96"/>
              </a:buClr>
              <a:buSzPts val="10000"/>
              <a:buFont typeface="Averia Serif Libre"/>
              <a:buNone/>
              <a:defRPr sz="10000">
                <a:solidFill>
                  <a:srgbClr val="953C96"/>
                </a:solidFill>
                <a:latin typeface="Averia Serif Libre"/>
                <a:ea typeface="Averia Serif Libre"/>
                <a:cs typeface="Averia Serif Libre"/>
                <a:sym typeface="Averia Serif Libre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12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2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2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2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2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2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2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200"/>
              <a:buNone/>
              <a:defRPr/>
            </a:lvl9pPr>
          </a:lstStyle>
          <a:p>
            <a:endParaRPr/>
          </a:p>
        </p:txBody>
      </p:sp>
      <p:sp>
        <p:nvSpPr>
          <p:cNvPr id="17" name="Google Shape;17;p2"/>
          <p:cNvSpPr txBox="1">
            <a:spLocks noGrp="1"/>
          </p:cNvSpPr>
          <p:nvPr>
            <p:ph type="subTitle" idx="1"/>
          </p:nvPr>
        </p:nvSpPr>
        <p:spPr>
          <a:xfrm>
            <a:off x="15636240" y="8074152"/>
            <a:ext cx="8046600" cy="3136500"/>
          </a:xfrm>
          <a:prstGeom prst="rect">
            <a:avLst/>
          </a:prstGeom>
        </p:spPr>
        <p:txBody>
          <a:bodyPr spcFirstLastPara="1" wrap="square" lIns="50800" tIns="50800" rIns="50800" bIns="50800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6000"/>
              <a:buNone/>
              <a:defRPr/>
            </a:lvl1pPr>
            <a:lvl2pPr lvl="1" algn="ctr">
              <a:spcBef>
                <a:spcPts val="0"/>
              </a:spcBef>
              <a:spcAft>
                <a:spcPts val="0"/>
              </a:spcAft>
              <a:buSzPts val="48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2"/>
          <p:cNvSpPr>
            <a:spLocks noGrp="1"/>
          </p:cNvSpPr>
          <p:nvPr>
            <p:ph type="pic" idx="2"/>
          </p:nvPr>
        </p:nvSpPr>
        <p:spPr>
          <a:xfrm>
            <a:off x="11128248" y="7626096"/>
            <a:ext cx="4078200" cy="4078200"/>
          </a:xfrm>
          <a:prstGeom prst="ellipse">
            <a:avLst/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Title Slide - Yellow">
  <p:cSld name="Title Slide 2 Line - Yellow_1">
    <p:spTree>
      <p:nvGrpSpPr>
        <p:cNvPr id="1" name="Shape 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" name="Google Shape;20;p3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-6359" y="-8"/>
            <a:ext cx="24384001" cy="13716001"/>
          </a:xfrm>
          <a:prstGeom prst="rect">
            <a:avLst/>
          </a:prstGeom>
          <a:noFill/>
          <a:ln>
            <a:noFill/>
          </a:ln>
        </p:spPr>
      </p:pic>
      <p:sp>
        <p:nvSpPr>
          <p:cNvPr id="21" name="Google Shape;21;p3"/>
          <p:cNvSpPr txBox="1"/>
          <p:nvPr/>
        </p:nvSpPr>
        <p:spPr>
          <a:xfrm>
            <a:off x="1133797" y="12306300"/>
            <a:ext cx="1742400" cy="35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Poppins"/>
              <a:buNone/>
            </a:pPr>
            <a:r>
              <a:rPr lang="en-US" sz="2000" b="0" i="0" u="none" strike="noStrike" cap="none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midcamp.org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" name="Google Shape;22;p3"/>
          <p:cNvSpPr txBox="1"/>
          <p:nvPr/>
        </p:nvSpPr>
        <p:spPr>
          <a:xfrm>
            <a:off x="20742564" y="12306300"/>
            <a:ext cx="2505900" cy="35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Poppins"/>
              <a:buNone/>
            </a:pPr>
            <a:r>
              <a:rPr lang="en-US" sz="2000" b="0" i="0" u="none" strike="noStrike" cap="none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info@midcamp.org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" name="Google Shape;23;p3"/>
          <p:cNvSpPr txBox="1"/>
          <p:nvPr/>
        </p:nvSpPr>
        <p:spPr>
          <a:xfrm>
            <a:off x="20742564" y="12306300"/>
            <a:ext cx="2505900" cy="35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Poppins"/>
              <a:buNone/>
            </a:pPr>
            <a:r>
              <a:rPr lang="en-US" sz="2000" b="0" i="0" u="none" strike="noStrike" cap="none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info@midcamp.org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" name="Google Shape;24;p3"/>
          <p:cNvSpPr txBox="1"/>
          <p:nvPr/>
        </p:nvSpPr>
        <p:spPr>
          <a:xfrm>
            <a:off x="9203949" y="12306300"/>
            <a:ext cx="5963400" cy="35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000"/>
              <a:buFont typeface="Poppins"/>
              <a:buNone/>
            </a:pPr>
            <a:r>
              <a:rPr lang="en-US" sz="2000">
                <a:latin typeface="Poppins"/>
                <a:ea typeface="Poppins"/>
                <a:cs typeface="Poppins"/>
                <a:sym typeface="Poppins"/>
              </a:rPr>
              <a:t>MidCamp 2026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" name="Google Shape;25;p3"/>
          <p:cNvSpPr txBox="1">
            <a:spLocks noGrp="1"/>
          </p:cNvSpPr>
          <p:nvPr>
            <p:ph type="title"/>
          </p:nvPr>
        </p:nvSpPr>
        <p:spPr>
          <a:xfrm>
            <a:off x="13203936" y="2039112"/>
            <a:ext cx="10158900" cy="5806500"/>
          </a:xfrm>
          <a:prstGeom prst="rect">
            <a:avLst/>
          </a:prstGeom>
        </p:spPr>
        <p:txBody>
          <a:bodyPr spcFirstLastPara="1" wrap="square" lIns="50800" tIns="50800" rIns="50800" bIns="50800" anchor="t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Clr>
                <a:srgbClr val="953C96"/>
              </a:buClr>
              <a:buSzPts val="10000"/>
              <a:buFont typeface="Averia Serif Libre"/>
              <a:buNone/>
              <a:defRPr sz="10000">
                <a:solidFill>
                  <a:srgbClr val="953C96"/>
                </a:solidFill>
                <a:latin typeface="Averia Serif Libre"/>
                <a:ea typeface="Averia Serif Libre"/>
                <a:cs typeface="Averia Serif Libre"/>
                <a:sym typeface="Averia Serif Libre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12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2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2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2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2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2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2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200"/>
              <a:buNone/>
              <a:defRPr/>
            </a:lvl9pPr>
          </a:lstStyle>
          <a:p>
            <a:endParaRPr/>
          </a:p>
        </p:txBody>
      </p:sp>
      <p:sp>
        <p:nvSpPr>
          <p:cNvPr id="26" name="Google Shape;26;p3"/>
          <p:cNvSpPr txBox="1">
            <a:spLocks noGrp="1"/>
          </p:cNvSpPr>
          <p:nvPr>
            <p:ph type="subTitle" idx="1"/>
          </p:nvPr>
        </p:nvSpPr>
        <p:spPr>
          <a:xfrm>
            <a:off x="15636240" y="8074152"/>
            <a:ext cx="8046600" cy="3136500"/>
          </a:xfrm>
          <a:prstGeom prst="rect">
            <a:avLst/>
          </a:prstGeom>
        </p:spPr>
        <p:txBody>
          <a:bodyPr spcFirstLastPara="1" wrap="square" lIns="50800" tIns="50800" rIns="50800" bIns="50800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6000"/>
              <a:buNone/>
              <a:defRPr/>
            </a:lvl1pPr>
            <a:lvl2pPr lvl="1" algn="ctr">
              <a:spcBef>
                <a:spcPts val="0"/>
              </a:spcBef>
              <a:spcAft>
                <a:spcPts val="0"/>
              </a:spcAft>
              <a:buSzPts val="48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3"/>
          <p:cNvSpPr>
            <a:spLocks noGrp="1"/>
          </p:cNvSpPr>
          <p:nvPr>
            <p:ph type="pic" idx="2"/>
          </p:nvPr>
        </p:nvSpPr>
        <p:spPr>
          <a:xfrm>
            <a:off x="11128248" y="7626096"/>
            <a:ext cx="4078200" cy="4078200"/>
          </a:xfrm>
          <a:prstGeom prst="ellipse">
            <a:avLst/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Title Slide - Blue">
  <p:cSld name="Title Slide 2 Line - Yellow_1_2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9" name="Google Shape;29;p4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-59475" y="-38100"/>
            <a:ext cx="24502939" cy="13792201"/>
          </a:xfrm>
          <a:prstGeom prst="rect">
            <a:avLst/>
          </a:prstGeom>
          <a:noFill/>
          <a:ln>
            <a:noFill/>
          </a:ln>
        </p:spPr>
      </p:pic>
      <p:sp>
        <p:nvSpPr>
          <p:cNvPr id="30" name="Google Shape;30;p4"/>
          <p:cNvSpPr txBox="1"/>
          <p:nvPr/>
        </p:nvSpPr>
        <p:spPr>
          <a:xfrm>
            <a:off x="1133797" y="12306300"/>
            <a:ext cx="1742400" cy="35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Poppins"/>
              <a:buNone/>
            </a:pPr>
            <a:r>
              <a:rPr lang="en-US" sz="2000" b="0" i="0" u="none" strike="noStrike" cap="none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rPr>
              <a:t>midcamp.org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1" name="Google Shape;31;p4"/>
          <p:cNvSpPr txBox="1"/>
          <p:nvPr/>
        </p:nvSpPr>
        <p:spPr>
          <a:xfrm>
            <a:off x="20742564" y="12306300"/>
            <a:ext cx="2505900" cy="35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Poppins"/>
              <a:buNone/>
            </a:pPr>
            <a:r>
              <a:rPr lang="en-US" sz="2000" b="0" i="0" u="none" strike="noStrike" cap="none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info@midcamp.org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2" name="Google Shape;32;p4"/>
          <p:cNvSpPr txBox="1"/>
          <p:nvPr/>
        </p:nvSpPr>
        <p:spPr>
          <a:xfrm>
            <a:off x="9203949" y="12306300"/>
            <a:ext cx="5963400" cy="35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000"/>
              <a:buFont typeface="Poppins"/>
              <a:buNone/>
            </a:pPr>
            <a:r>
              <a:rPr lang="en-US" sz="2000">
                <a:latin typeface="Poppins"/>
                <a:ea typeface="Poppins"/>
                <a:cs typeface="Poppins"/>
                <a:sym typeface="Poppins"/>
              </a:rPr>
              <a:t>MidCamp 2026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" name="Google Shape;33;p4"/>
          <p:cNvSpPr txBox="1">
            <a:spLocks noGrp="1"/>
          </p:cNvSpPr>
          <p:nvPr>
            <p:ph type="title"/>
          </p:nvPr>
        </p:nvSpPr>
        <p:spPr>
          <a:xfrm>
            <a:off x="13203936" y="2039112"/>
            <a:ext cx="10158900" cy="5806500"/>
          </a:xfrm>
          <a:prstGeom prst="rect">
            <a:avLst/>
          </a:prstGeom>
        </p:spPr>
        <p:txBody>
          <a:bodyPr spcFirstLastPara="1" wrap="square" lIns="50800" tIns="50800" rIns="50800" bIns="50800" anchor="t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Clr>
                <a:srgbClr val="953C96"/>
              </a:buClr>
              <a:buSzPts val="10000"/>
              <a:buFont typeface="Averia Serif Libre"/>
              <a:buNone/>
              <a:defRPr sz="10000">
                <a:solidFill>
                  <a:srgbClr val="953C96"/>
                </a:solidFill>
                <a:latin typeface="Averia Serif Libre"/>
                <a:ea typeface="Averia Serif Libre"/>
                <a:cs typeface="Averia Serif Libre"/>
                <a:sym typeface="Averia Serif Libre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12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2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2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2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2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2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2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200"/>
              <a:buNone/>
              <a:defRPr/>
            </a:lvl9pPr>
          </a:lstStyle>
          <a:p>
            <a:endParaRPr/>
          </a:p>
        </p:txBody>
      </p:sp>
      <p:sp>
        <p:nvSpPr>
          <p:cNvPr id="34" name="Google Shape;34;p4"/>
          <p:cNvSpPr txBox="1">
            <a:spLocks noGrp="1"/>
          </p:cNvSpPr>
          <p:nvPr>
            <p:ph type="subTitle" idx="1"/>
          </p:nvPr>
        </p:nvSpPr>
        <p:spPr>
          <a:xfrm>
            <a:off x="15636240" y="8074152"/>
            <a:ext cx="8046600" cy="3136500"/>
          </a:xfrm>
          <a:prstGeom prst="rect">
            <a:avLst/>
          </a:prstGeom>
        </p:spPr>
        <p:txBody>
          <a:bodyPr spcFirstLastPara="1" wrap="square" lIns="50800" tIns="50800" rIns="50800" bIns="50800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6000"/>
              <a:buNone/>
              <a:defRPr/>
            </a:lvl1pPr>
            <a:lvl2pPr lvl="1" algn="ctr">
              <a:spcBef>
                <a:spcPts val="0"/>
              </a:spcBef>
              <a:spcAft>
                <a:spcPts val="0"/>
              </a:spcAft>
              <a:buSzPts val="48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9pPr>
          </a:lstStyle>
          <a:p>
            <a:endParaRPr/>
          </a:p>
        </p:txBody>
      </p:sp>
      <p:sp>
        <p:nvSpPr>
          <p:cNvPr id="35" name="Google Shape;35;p4"/>
          <p:cNvSpPr>
            <a:spLocks noGrp="1"/>
          </p:cNvSpPr>
          <p:nvPr>
            <p:ph type="pic" idx="2"/>
          </p:nvPr>
        </p:nvSpPr>
        <p:spPr>
          <a:xfrm>
            <a:off x="11128248" y="7626096"/>
            <a:ext cx="4078200" cy="4078200"/>
          </a:xfrm>
          <a:prstGeom prst="ellipse">
            <a:avLst/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: Title and Body">
  <p:cSld name="CUSTOM">
    <p:spTree>
      <p:nvGrpSpPr>
        <p:cNvPr id="1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Google Shape;37;p5"/>
          <p:cNvSpPr txBox="1">
            <a:spLocks noGrp="1"/>
          </p:cNvSpPr>
          <p:nvPr>
            <p:ph type="title"/>
          </p:nvPr>
        </p:nvSpPr>
        <p:spPr>
          <a:xfrm>
            <a:off x="1616850" y="1197425"/>
            <a:ext cx="21201300" cy="2035800"/>
          </a:xfrm>
          <a:prstGeom prst="rect">
            <a:avLst/>
          </a:prstGeom>
        </p:spPr>
        <p:txBody>
          <a:bodyPr spcFirstLastPara="1" wrap="square" lIns="50800" tIns="50800" rIns="50800" bIns="5080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8000"/>
              <a:buNone/>
              <a:defRPr sz="8000"/>
            </a:lvl1pPr>
            <a:lvl2pPr lvl="1">
              <a:spcBef>
                <a:spcPts val="0"/>
              </a:spcBef>
              <a:spcAft>
                <a:spcPts val="0"/>
              </a:spcAft>
              <a:buSzPts val="112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2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2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2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2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2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2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200"/>
              <a:buNone/>
              <a:defRPr/>
            </a:lvl9pPr>
          </a:lstStyle>
          <a:p>
            <a:endParaRPr/>
          </a:p>
        </p:txBody>
      </p:sp>
      <p:sp>
        <p:nvSpPr>
          <p:cNvPr id="38" name="Google Shape;38;p5"/>
          <p:cNvSpPr txBox="1">
            <a:spLocks noGrp="1"/>
          </p:cNvSpPr>
          <p:nvPr>
            <p:ph type="body" idx="1"/>
          </p:nvPr>
        </p:nvSpPr>
        <p:spPr>
          <a:xfrm>
            <a:off x="1616700" y="3755725"/>
            <a:ext cx="21201300" cy="852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t" anchorCtr="0">
            <a:noAutofit/>
          </a:bodyPr>
          <a:lstStyle>
            <a:lvl1pPr marL="457200" marR="0" lvl="0" indent="-228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Helvetica Neue"/>
              <a:buNone/>
              <a:defRPr sz="6000" i="0" u="none" strike="noStrike" cap="none">
                <a:solidFill>
                  <a:srgbClr val="000000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1pPr>
            <a:lvl2pPr marL="914400" marR="0" lvl="1" indent="-228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800"/>
              <a:buFont typeface="Helvetica Neue"/>
              <a:buNone/>
              <a:defRPr sz="4800" i="0" u="none" strike="noStrike" cap="none">
                <a:solidFill>
                  <a:srgbClr val="000000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2pPr>
            <a:lvl3pPr marL="1371600" marR="0" lvl="2" indent="-228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Helvetica Neue"/>
              <a:buNone/>
              <a:defRPr sz="3600" i="0" u="none" strike="noStrike" cap="none">
                <a:solidFill>
                  <a:srgbClr val="000000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3pPr>
            <a:lvl4pPr marL="1828800" marR="0" lvl="3" indent="-228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Helvetica Neue"/>
              <a:buNone/>
              <a:defRPr sz="3600" i="0" u="none" strike="noStrike" cap="none">
                <a:solidFill>
                  <a:srgbClr val="000000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4pPr>
            <a:lvl5pPr marL="2286000" marR="0" lvl="4" indent="-228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Helvetica Neue"/>
              <a:buNone/>
              <a:defRPr sz="3600" i="0" u="none" strike="noStrike" cap="none">
                <a:solidFill>
                  <a:srgbClr val="000000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5pPr>
            <a:lvl6pPr marL="2743200" marR="0" lvl="5" indent="-228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Helvetica Neue"/>
              <a:buNone/>
              <a:defRPr sz="3600" i="0" u="none" strike="noStrike" cap="none">
                <a:solidFill>
                  <a:srgbClr val="000000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6pPr>
            <a:lvl7pPr marL="3200400" marR="0" lvl="6" indent="-228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Helvetica Neue"/>
              <a:buNone/>
              <a:defRPr sz="3600" i="0" u="none" strike="noStrike" cap="none">
                <a:solidFill>
                  <a:srgbClr val="000000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7pPr>
            <a:lvl8pPr marL="3657600" marR="0" lvl="7" indent="-228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Helvetica Neue"/>
              <a:buNone/>
              <a:defRPr sz="3600" i="0" u="none" strike="noStrike" cap="none">
                <a:solidFill>
                  <a:srgbClr val="000000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8pPr>
            <a:lvl9pPr marL="4114800" marR="0" lvl="8" indent="-228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Helvetica Neue"/>
              <a:buNone/>
              <a:defRPr sz="3600" i="0" u="none" strike="noStrike" cap="none">
                <a:solidFill>
                  <a:srgbClr val="000000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9pPr>
          </a:lstStyle>
          <a:p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037">
          <p15:clr>
            <a:srgbClr val="E46962"/>
          </p15:clr>
        </p15:guide>
        <p15:guide id="2" orient="horz" pos="2366">
          <p15:clr>
            <a:srgbClr val="E46962"/>
          </p15:clr>
        </p15:guide>
        <p15:guide id="3" pos="986">
          <p15:clr>
            <a:srgbClr val="E46962"/>
          </p15:clr>
        </p15:guide>
        <p15:guide id="4" pos="14374">
          <p15:clr>
            <a:srgbClr val="E46962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: Title and Two Columns">
  <p:cSld name="CUSTOM_1">
    <p:spTree>
      <p:nvGrpSpPr>
        <p:cNvPr id="1" name="Shape 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Google Shape;40;p6"/>
          <p:cNvSpPr txBox="1">
            <a:spLocks noGrp="1"/>
          </p:cNvSpPr>
          <p:nvPr>
            <p:ph type="title"/>
          </p:nvPr>
        </p:nvSpPr>
        <p:spPr>
          <a:xfrm>
            <a:off x="1669100" y="1197425"/>
            <a:ext cx="20959500" cy="2558400"/>
          </a:xfrm>
          <a:prstGeom prst="rect">
            <a:avLst/>
          </a:prstGeom>
        </p:spPr>
        <p:txBody>
          <a:bodyPr spcFirstLastPara="1" wrap="square" lIns="50800" tIns="50800" rIns="50800" bIns="5080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8000"/>
              <a:buNone/>
              <a:defRPr sz="8000"/>
            </a:lvl1pPr>
            <a:lvl2pPr lvl="1">
              <a:spcBef>
                <a:spcPts val="0"/>
              </a:spcBef>
              <a:spcAft>
                <a:spcPts val="0"/>
              </a:spcAft>
              <a:buSzPts val="112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2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2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2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2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2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2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200"/>
              <a:buNone/>
              <a:defRPr/>
            </a:lvl9pPr>
          </a:lstStyle>
          <a:p>
            <a:endParaRPr/>
          </a:p>
        </p:txBody>
      </p:sp>
      <p:sp>
        <p:nvSpPr>
          <p:cNvPr id="41" name="Google Shape;41;p6"/>
          <p:cNvSpPr txBox="1">
            <a:spLocks noGrp="1"/>
          </p:cNvSpPr>
          <p:nvPr>
            <p:ph type="body" idx="1"/>
          </p:nvPr>
        </p:nvSpPr>
        <p:spPr>
          <a:xfrm>
            <a:off x="12738675" y="4113625"/>
            <a:ext cx="10058400" cy="8162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t" anchorCtr="0">
            <a:noAutofit/>
          </a:bodyPr>
          <a:lstStyle>
            <a:lvl1pPr marL="457200" marR="0" lvl="0" indent="-228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800"/>
              <a:buFont typeface="Helvetica Neue"/>
              <a:buNone/>
              <a:defRPr sz="4800" i="0" u="none" strike="noStrike" cap="none">
                <a:solidFill>
                  <a:srgbClr val="000000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1pPr>
            <a:lvl2pPr marL="914400" marR="0" lvl="1" indent="-228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Helvetica Neue"/>
              <a:buNone/>
              <a:defRPr sz="3600" i="0" u="none" strike="noStrike" cap="none">
                <a:solidFill>
                  <a:srgbClr val="000000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2pPr>
            <a:lvl3pPr marL="1371600" marR="0" lvl="2" indent="-228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000"/>
              <a:buFont typeface="Helvetica Neue"/>
              <a:buNone/>
              <a:defRPr sz="3000" i="0" u="none" strike="noStrike" cap="none">
                <a:solidFill>
                  <a:srgbClr val="000000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3pPr>
            <a:lvl4pPr marL="1828800" marR="0" lvl="3" indent="-228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000"/>
              <a:buFont typeface="Helvetica Neue"/>
              <a:buNone/>
              <a:defRPr sz="3000" i="0" u="none" strike="noStrike" cap="none">
                <a:solidFill>
                  <a:srgbClr val="000000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4pPr>
            <a:lvl5pPr marL="2286000" marR="0" lvl="4" indent="-228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000"/>
              <a:buFont typeface="Helvetica Neue"/>
              <a:buNone/>
              <a:defRPr sz="3000" i="0" u="none" strike="noStrike" cap="none">
                <a:solidFill>
                  <a:srgbClr val="000000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5pPr>
            <a:lvl6pPr marL="2743200" marR="0" lvl="5" indent="-228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000"/>
              <a:buFont typeface="Helvetica Neue"/>
              <a:buNone/>
              <a:defRPr sz="3000" i="0" u="none" strike="noStrike" cap="none">
                <a:solidFill>
                  <a:srgbClr val="000000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6pPr>
            <a:lvl7pPr marL="3200400" marR="0" lvl="6" indent="-228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000"/>
              <a:buFont typeface="Helvetica Neue"/>
              <a:buNone/>
              <a:defRPr sz="3000" i="0" u="none" strike="noStrike" cap="none">
                <a:solidFill>
                  <a:srgbClr val="000000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7pPr>
            <a:lvl8pPr marL="3657600" marR="0" lvl="7" indent="-228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000"/>
              <a:buFont typeface="Helvetica Neue"/>
              <a:buNone/>
              <a:defRPr sz="3000" i="0" u="none" strike="noStrike" cap="none">
                <a:solidFill>
                  <a:srgbClr val="000000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8pPr>
            <a:lvl9pPr marL="4114800" marR="0" lvl="8" indent="-228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000"/>
              <a:buFont typeface="Helvetica Neue"/>
              <a:buNone/>
              <a:defRPr sz="3000" i="0" u="none" strike="noStrike" cap="none">
                <a:solidFill>
                  <a:srgbClr val="000000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9pPr>
          </a:lstStyle>
          <a:p>
            <a:endParaRPr/>
          </a:p>
        </p:txBody>
      </p:sp>
      <p:sp>
        <p:nvSpPr>
          <p:cNvPr id="42" name="Google Shape;42;p6"/>
          <p:cNvSpPr txBox="1">
            <a:spLocks noGrp="1"/>
          </p:cNvSpPr>
          <p:nvPr>
            <p:ph type="body" idx="2"/>
          </p:nvPr>
        </p:nvSpPr>
        <p:spPr>
          <a:xfrm>
            <a:off x="1565900" y="4113725"/>
            <a:ext cx="10058400" cy="8162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t" anchorCtr="0">
            <a:noAutofit/>
          </a:bodyPr>
          <a:lstStyle>
            <a:lvl1pPr marL="457200" marR="0" lvl="0" indent="-228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800"/>
              <a:buFont typeface="Helvetica Neue"/>
              <a:buNone/>
              <a:defRPr sz="4800" i="0" u="none" strike="noStrike" cap="none">
                <a:solidFill>
                  <a:srgbClr val="000000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1pPr>
            <a:lvl2pPr marL="914400" marR="0" lvl="1" indent="-228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Helvetica Neue"/>
              <a:buNone/>
              <a:defRPr sz="3600" i="0" u="none" strike="noStrike" cap="none">
                <a:solidFill>
                  <a:srgbClr val="000000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2pPr>
            <a:lvl3pPr marL="1371600" marR="0" lvl="2" indent="-228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000"/>
              <a:buFont typeface="Helvetica Neue"/>
              <a:buNone/>
              <a:defRPr sz="3000" i="0" u="none" strike="noStrike" cap="none">
                <a:solidFill>
                  <a:srgbClr val="000000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3pPr>
            <a:lvl4pPr marL="1828800" marR="0" lvl="3" indent="-228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000"/>
              <a:buFont typeface="Helvetica Neue"/>
              <a:buNone/>
              <a:defRPr sz="3000" i="0" u="none" strike="noStrike" cap="none">
                <a:solidFill>
                  <a:srgbClr val="000000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4pPr>
            <a:lvl5pPr marL="2286000" marR="0" lvl="4" indent="-228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000"/>
              <a:buFont typeface="Helvetica Neue"/>
              <a:buNone/>
              <a:defRPr sz="3000" i="0" u="none" strike="noStrike" cap="none">
                <a:solidFill>
                  <a:srgbClr val="000000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5pPr>
            <a:lvl6pPr marL="2743200" marR="0" lvl="5" indent="-228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000"/>
              <a:buFont typeface="Helvetica Neue"/>
              <a:buNone/>
              <a:defRPr sz="3000" i="0" u="none" strike="noStrike" cap="none">
                <a:solidFill>
                  <a:srgbClr val="000000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6pPr>
            <a:lvl7pPr marL="3200400" marR="0" lvl="6" indent="-228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000"/>
              <a:buFont typeface="Helvetica Neue"/>
              <a:buNone/>
              <a:defRPr sz="3000" i="0" u="none" strike="noStrike" cap="none">
                <a:solidFill>
                  <a:srgbClr val="000000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7pPr>
            <a:lvl8pPr marL="3657600" marR="0" lvl="7" indent="-228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000"/>
              <a:buFont typeface="Helvetica Neue"/>
              <a:buNone/>
              <a:defRPr sz="3000" i="0" u="none" strike="noStrike" cap="none">
                <a:solidFill>
                  <a:srgbClr val="000000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8pPr>
            <a:lvl9pPr marL="4114800" marR="0" lvl="8" indent="-228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000"/>
              <a:buFont typeface="Helvetica Neue"/>
              <a:buNone/>
              <a:defRPr sz="3000" i="0" u="none" strike="noStrike" cap="none">
                <a:solidFill>
                  <a:srgbClr val="000000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9pPr>
          </a:lstStyle>
          <a:p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037">
          <p15:clr>
            <a:srgbClr val="E46962"/>
          </p15:clr>
        </p15:guide>
        <p15:guide id="2" orient="horz" pos="2366">
          <p15:clr>
            <a:srgbClr val="E46962"/>
          </p15:clr>
        </p15:guide>
        <p15:guide id="3" pos="7653">
          <p15:clr>
            <a:srgbClr val="E46962"/>
          </p15:clr>
        </p15:guide>
        <p15:guide id="4" pos="986">
          <p15:clr>
            <a:srgbClr val="E46962"/>
          </p15:clr>
        </p15:guide>
        <p15:guide id="5" pos="14374">
          <p15:clr>
            <a:srgbClr val="E46962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: Title only">
  <p:cSld name="CUSTOM_2">
    <p:spTree>
      <p:nvGrpSpPr>
        <p:cNvPr id="1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7"/>
          <p:cNvSpPr txBox="1">
            <a:spLocks noGrp="1"/>
          </p:cNvSpPr>
          <p:nvPr>
            <p:ph type="title"/>
          </p:nvPr>
        </p:nvSpPr>
        <p:spPr>
          <a:xfrm>
            <a:off x="1616850" y="1197425"/>
            <a:ext cx="21201300" cy="2035800"/>
          </a:xfrm>
          <a:prstGeom prst="rect">
            <a:avLst/>
          </a:prstGeom>
        </p:spPr>
        <p:txBody>
          <a:bodyPr spcFirstLastPara="1" wrap="square" lIns="50800" tIns="50800" rIns="50800" bIns="5080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8000"/>
              <a:buNone/>
              <a:defRPr sz="8000"/>
            </a:lvl1pPr>
            <a:lvl2pPr lvl="1">
              <a:spcBef>
                <a:spcPts val="0"/>
              </a:spcBef>
              <a:spcAft>
                <a:spcPts val="0"/>
              </a:spcAft>
              <a:buSzPts val="112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2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2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2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2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2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2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2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037">
          <p15:clr>
            <a:srgbClr val="E46962"/>
          </p15:clr>
        </p15:guide>
        <p15:guide id="2" orient="horz" pos="2366">
          <p15:clr>
            <a:srgbClr val="E46962"/>
          </p15:clr>
        </p15:guide>
        <p15:guide id="3" pos="986">
          <p15:clr>
            <a:srgbClr val="E46962"/>
          </p15:clr>
        </p15:guide>
        <p15:guide id="4" pos="14374">
          <p15:clr>
            <a:srgbClr val="E46962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Content: Large text only">
  <p:cSld name="Content Slide - Photo 1/3_2">
    <p:spTree>
      <p:nvGrpSpPr>
        <p:cNvPr id="1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8"/>
          <p:cNvSpPr txBox="1">
            <a:spLocks noGrp="1"/>
          </p:cNvSpPr>
          <p:nvPr>
            <p:ph type="title"/>
          </p:nvPr>
        </p:nvSpPr>
        <p:spPr>
          <a:xfrm>
            <a:off x="2728275" y="2238050"/>
            <a:ext cx="18501300" cy="8855400"/>
          </a:xfrm>
          <a:prstGeom prst="rect">
            <a:avLst/>
          </a:prstGeom>
        </p:spPr>
        <p:txBody>
          <a:bodyPr spcFirstLastPara="1" wrap="square" lIns="50800" tIns="50800" rIns="50800" bIns="508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8000"/>
              <a:buNone/>
              <a:defRPr sz="8000"/>
            </a:lvl1pPr>
            <a:lvl2pPr lvl="1">
              <a:spcBef>
                <a:spcPts val="0"/>
              </a:spcBef>
              <a:spcAft>
                <a:spcPts val="0"/>
              </a:spcAft>
              <a:buSzPts val="112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2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2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2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2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2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2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2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Section Header - Purple">
  <p:cSld name="Section Title - Purple_1">
    <p:spTree>
      <p:nvGrpSpPr>
        <p:cNvPr id="1" name="Shape 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Google Shape;48;p9"/>
          <p:cNvSpPr/>
          <p:nvPr/>
        </p:nvSpPr>
        <p:spPr>
          <a:xfrm>
            <a:off x="0" y="0"/>
            <a:ext cx="24384000" cy="13716000"/>
          </a:xfrm>
          <a:prstGeom prst="rect">
            <a:avLst/>
          </a:prstGeom>
          <a:solidFill>
            <a:srgbClr val="652966"/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Helvetica Neue"/>
              <a:buNone/>
            </a:pPr>
            <a:endParaRPr sz="3200" b="0" i="0" u="none" strike="noStrike" cap="none">
              <a:solidFill>
                <a:srgbClr val="FFFFFF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pic>
        <p:nvPicPr>
          <p:cNvPr id="49" name="Google Shape;49;p9" descr="Image"/>
          <p:cNvPicPr preferRelativeResize="0"/>
          <p:nvPr/>
        </p:nvPicPr>
        <p:blipFill rotWithShape="1">
          <a:blip r:embed="rId2">
            <a:alphaModFix amt="20000"/>
          </a:blip>
          <a:srcRect/>
          <a:stretch/>
        </p:blipFill>
        <p:spPr>
          <a:xfrm rot="5400000">
            <a:off x="-4953076" y="10082279"/>
            <a:ext cx="11091648" cy="2824542"/>
          </a:xfrm>
          <a:prstGeom prst="rect">
            <a:avLst/>
          </a:prstGeom>
          <a:noFill/>
          <a:ln>
            <a:noFill/>
          </a:ln>
        </p:spPr>
      </p:pic>
      <p:sp>
        <p:nvSpPr>
          <p:cNvPr id="50" name="Google Shape;50;p9"/>
          <p:cNvSpPr txBox="1"/>
          <p:nvPr/>
        </p:nvSpPr>
        <p:spPr>
          <a:xfrm>
            <a:off x="23121528" y="12306300"/>
            <a:ext cx="126900" cy="35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000"/>
              <a:buFont typeface="Poppins"/>
              <a:buNone/>
            </a:pPr>
            <a:r>
              <a:rPr lang="en-US" sz="2000" b="0" i="0" u="sng" strike="noStrike" cap="none">
                <a:solidFill>
                  <a:schemeClr val="hlink"/>
                </a:solidFill>
                <a:latin typeface="Poppins"/>
                <a:ea typeface="Poppins"/>
                <a:cs typeface="Poppins"/>
                <a:sym typeface="Poppins"/>
                <a:hlinkClick r:id="rId3"/>
              </a:rPr>
              <a:t> 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1" name="Google Shape;51;p9"/>
          <p:cNvSpPr txBox="1"/>
          <p:nvPr/>
        </p:nvSpPr>
        <p:spPr>
          <a:xfrm>
            <a:off x="1133797" y="12306300"/>
            <a:ext cx="126900" cy="35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000"/>
              <a:buFont typeface="Poppins"/>
              <a:buNone/>
            </a:pPr>
            <a:r>
              <a:rPr lang="en-US" sz="2000" b="0" i="0" u="sng" strike="noStrike" cap="none">
                <a:solidFill>
                  <a:schemeClr val="hlink"/>
                </a:solidFill>
                <a:latin typeface="Poppins"/>
                <a:ea typeface="Poppins"/>
                <a:cs typeface="Poppins"/>
                <a:sym typeface="Poppins"/>
                <a:hlinkClick r:id="rId3"/>
              </a:rPr>
              <a:t> 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2" name="Google Shape;52;p9"/>
          <p:cNvSpPr txBox="1"/>
          <p:nvPr/>
        </p:nvSpPr>
        <p:spPr>
          <a:xfrm>
            <a:off x="20742564" y="12306300"/>
            <a:ext cx="2505900" cy="35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000"/>
              <a:buFont typeface="Poppins"/>
              <a:buNone/>
            </a:pPr>
            <a:r>
              <a:rPr lang="en-US" sz="2000" b="0" i="0" u="none" strike="noStrike" cap="none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info@midcamp.org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53" name="Google Shape;53;p9" descr="Image"/>
          <p:cNvPicPr preferRelativeResize="0"/>
          <p:nvPr/>
        </p:nvPicPr>
        <p:blipFill rotWithShape="1">
          <a:blip r:embed="rId2">
            <a:alphaModFix amt="20000"/>
          </a:blip>
          <a:srcRect/>
          <a:stretch/>
        </p:blipFill>
        <p:spPr>
          <a:xfrm rot="10686707">
            <a:off x="-219747" y="-1714084"/>
            <a:ext cx="11091647" cy="2824542"/>
          </a:xfrm>
          <a:prstGeom prst="rect">
            <a:avLst/>
          </a:prstGeom>
          <a:noFill/>
          <a:ln>
            <a:noFill/>
          </a:ln>
        </p:spPr>
      </p:pic>
      <p:sp>
        <p:nvSpPr>
          <p:cNvPr id="54" name="Google Shape;54;p9"/>
          <p:cNvSpPr txBox="1"/>
          <p:nvPr/>
        </p:nvSpPr>
        <p:spPr>
          <a:xfrm>
            <a:off x="1133797" y="12306300"/>
            <a:ext cx="1742400" cy="35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000"/>
              <a:buFont typeface="Poppins"/>
              <a:buNone/>
            </a:pPr>
            <a:r>
              <a:rPr lang="en-US" sz="2000" b="0" i="0" u="none" strike="noStrike" cap="none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midcamp.org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5" name="Google Shape;55;p9"/>
          <p:cNvSpPr txBox="1"/>
          <p:nvPr/>
        </p:nvSpPr>
        <p:spPr>
          <a:xfrm>
            <a:off x="9203949" y="12306300"/>
            <a:ext cx="5963400" cy="35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000"/>
              <a:buFont typeface="Poppins"/>
              <a:buNone/>
            </a:pPr>
            <a:r>
              <a:rPr lang="en-US" sz="2000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MidCamp 2026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6" name="Google Shape;56;p9"/>
          <p:cNvSpPr txBox="1">
            <a:spLocks noGrp="1"/>
          </p:cNvSpPr>
          <p:nvPr>
            <p:ph type="ctrTitle"/>
          </p:nvPr>
        </p:nvSpPr>
        <p:spPr>
          <a:xfrm>
            <a:off x="3048000" y="2854326"/>
            <a:ext cx="18288000" cy="477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Font typeface="Averia Serif Libre"/>
              <a:buNone/>
              <a:defRPr sz="12000">
                <a:solidFill>
                  <a:schemeClr val="lt1"/>
                </a:solidFill>
                <a:latin typeface="Averia Serif Libre"/>
                <a:ea typeface="Averia Serif Libre"/>
                <a:cs typeface="Averia Serif Libre"/>
                <a:sym typeface="Averia Serif Libre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Averia Serif Libre"/>
              <a:buNone/>
              <a:defRPr>
                <a:solidFill>
                  <a:schemeClr val="lt1"/>
                </a:solidFill>
                <a:latin typeface="Averia Serif Libre"/>
                <a:ea typeface="Averia Serif Libre"/>
                <a:cs typeface="Averia Serif Libre"/>
                <a:sym typeface="Averia Serif Libre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Averia Serif Libre"/>
              <a:buNone/>
              <a:defRPr>
                <a:solidFill>
                  <a:schemeClr val="lt1"/>
                </a:solidFill>
                <a:latin typeface="Averia Serif Libre"/>
                <a:ea typeface="Averia Serif Libre"/>
                <a:cs typeface="Averia Serif Libre"/>
                <a:sym typeface="Averia Serif Libre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Averia Serif Libre"/>
              <a:buNone/>
              <a:defRPr>
                <a:solidFill>
                  <a:schemeClr val="lt1"/>
                </a:solidFill>
                <a:latin typeface="Averia Serif Libre"/>
                <a:ea typeface="Averia Serif Libre"/>
                <a:cs typeface="Averia Serif Libre"/>
                <a:sym typeface="Averia Serif Libre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Averia Serif Libre"/>
              <a:buNone/>
              <a:defRPr>
                <a:solidFill>
                  <a:schemeClr val="lt1"/>
                </a:solidFill>
                <a:latin typeface="Averia Serif Libre"/>
                <a:ea typeface="Averia Serif Libre"/>
                <a:cs typeface="Averia Serif Libre"/>
                <a:sym typeface="Averia Serif Libre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Averia Serif Libre"/>
              <a:buNone/>
              <a:defRPr>
                <a:solidFill>
                  <a:schemeClr val="lt1"/>
                </a:solidFill>
                <a:latin typeface="Averia Serif Libre"/>
                <a:ea typeface="Averia Serif Libre"/>
                <a:cs typeface="Averia Serif Libre"/>
                <a:sym typeface="Averia Serif Libre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Averia Serif Libre"/>
              <a:buNone/>
              <a:defRPr>
                <a:solidFill>
                  <a:schemeClr val="lt1"/>
                </a:solidFill>
                <a:latin typeface="Averia Serif Libre"/>
                <a:ea typeface="Averia Serif Libre"/>
                <a:cs typeface="Averia Serif Libre"/>
                <a:sym typeface="Averia Serif Libre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Averia Serif Libre"/>
              <a:buNone/>
              <a:defRPr>
                <a:solidFill>
                  <a:schemeClr val="lt1"/>
                </a:solidFill>
                <a:latin typeface="Averia Serif Libre"/>
                <a:ea typeface="Averia Serif Libre"/>
                <a:cs typeface="Averia Serif Libre"/>
                <a:sym typeface="Averia Serif Libre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Averia Serif Libre"/>
              <a:buNone/>
              <a:defRPr>
                <a:solidFill>
                  <a:schemeClr val="lt1"/>
                </a:solidFill>
                <a:latin typeface="Averia Serif Libre"/>
                <a:ea typeface="Averia Serif Libre"/>
                <a:cs typeface="Averia Serif Libre"/>
                <a:sym typeface="Averia Serif Libre"/>
              </a:defRPr>
            </a:lvl9pPr>
          </a:lstStyle>
          <a:p>
            <a:endParaRPr/>
          </a:p>
        </p:txBody>
      </p:sp>
      <p:sp>
        <p:nvSpPr>
          <p:cNvPr id="57" name="Google Shape;57;p9"/>
          <p:cNvSpPr txBox="1">
            <a:spLocks noGrp="1"/>
          </p:cNvSpPr>
          <p:nvPr>
            <p:ph type="subTitle" idx="1"/>
          </p:nvPr>
        </p:nvSpPr>
        <p:spPr>
          <a:xfrm>
            <a:off x="3048000" y="8806085"/>
            <a:ext cx="18288000" cy="2690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ctr">
              <a:lnSpc>
                <a:spcPct val="120000"/>
              </a:lnSpc>
              <a:spcBef>
                <a:spcPts val="2000"/>
              </a:spcBef>
              <a:spcAft>
                <a:spcPts val="0"/>
              </a:spcAft>
              <a:buClr>
                <a:schemeClr val="lt1"/>
              </a:buClr>
              <a:buSzPts val="5000"/>
              <a:buFont typeface="Poppins"/>
              <a:buNone/>
              <a:defRPr sz="50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1pPr>
            <a:lvl2pPr lvl="1" algn="ctr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000"/>
              <a:buNone/>
              <a:defRPr sz="4000">
                <a:solidFill>
                  <a:schemeClr val="lt1"/>
                </a:solidFill>
              </a:defRPr>
            </a:lvl2pPr>
            <a:lvl3pPr lvl="2" algn="ctr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3pPr>
            <a:lvl4pPr lvl="3" algn="ctr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3200"/>
              <a:buNone/>
              <a:defRPr sz="3200">
                <a:solidFill>
                  <a:schemeClr val="lt1"/>
                </a:solidFill>
              </a:defRPr>
            </a:lvl4pPr>
            <a:lvl5pPr lvl="4" algn="ctr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3200"/>
              <a:buNone/>
              <a:defRPr sz="3200">
                <a:solidFill>
                  <a:schemeClr val="lt1"/>
                </a:solidFill>
              </a:defRPr>
            </a:lvl5pPr>
            <a:lvl6pPr lvl="5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3200"/>
              <a:buNone/>
              <a:defRPr sz="3200">
                <a:solidFill>
                  <a:schemeClr val="lt1"/>
                </a:solidFill>
              </a:defRPr>
            </a:lvl6pPr>
            <a:lvl7pPr lvl="6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3200"/>
              <a:buNone/>
              <a:defRPr sz="3200">
                <a:solidFill>
                  <a:schemeClr val="lt1"/>
                </a:solidFill>
              </a:defRPr>
            </a:lvl7pPr>
            <a:lvl8pPr lvl="7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3200"/>
              <a:buNone/>
              <a:defRPr sz="3200">
                <a:solidFill>
                  <a:schemeClr val="lt1"/>
                </a:solidFill>
              </a:defRPr>
            </a:lvl8pPr>
            <a:lvl9pPr lvl="8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3200"/>
              <a:buNone/>
              <a:defRPr sz="32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Content: Blank ">
  <p:cSld name="Content Slide - Large Content">
    <p:spTree>
      <p:nvGrpSpPr>
        <p:cNvPr id="1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0"/>
          <p:cNvSpPr txBox="1"/>
          <p:nvPr/>
        </p:nvSpPr>
        <p:spPr>
          <a:xfrm>
            <a:off x="22313808" y="12306300"/>
            <a:ext cx="127001" cy="35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53C96"/>
              </a:buClr>
              <a:buSzPts val="2000"/>
              <a:buFont typeface="Poppins"/>
              <a:buNone/>
            </a:pPr>
            <a:r>
              <a:rPr lang="en-US" sz="2000" b="0" i="0" u="sng" strike="noStrike" cap="none">
                <a:solidFill>
                  <a:schemeClr val="hlink"/>
                </a:solidFill>
                <a:latin typeface="Poppins"/>
                <a:ea typeface="Poppins"/>
                <a:cs typeface="Poppins"/>
                <a:sym typeface="Poppins"/>
                <a:hlinkClick r:id="rId2"/>
              </a:rPr>
              <a:t> 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0" name="Google Shape;60;p10"/>
          <p:cNvSpPr txBox="1"/>
          <p:nvPr/>
        </p:nvSpPr>
        <p:spPr>
          <a:xfrm>
            <a:off x="1133797" y="12306300"/>
            <a:ext cx="1742441" cy="35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53C96"/>
              </a:buClr>
              <a:buSzPts val="2000"/>
              <a:buFont typeface="Poppins"/>
              <a:buNone/>
            </a:pPr>
            <a:r>
              <a:rPr lang="en-US" sz="2000" b="0" i="0" u="none" strike="noStrike" cap="none">
                <a:solidFill>
                  <a:srgbClr val="953C96"/>
                </a:solidFill>
                <a:latin typeface="Poppins"/>
                <a:ea typeface="Poppins"/>
                <a:cs typeface="Poppins"/>
                <a:sym typeface="Poppins"/>
              </a:rPr>
              <a:t>midcamp.org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1" name="Google Shape;61;p10"/>
          <p:cNvSpPr txBox="1"/>
          <p:nvPr/>
        </p:nvSpPr>
        <p:spPr>
          <a:xfrm>
            <a:off x="20742564" y="12306300"/>
            <a:ext cx="2505965" cy="35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53C96"/>
              </a:buClr>
              <a:buSzPts val="2000"/>
              <a:buFont typeface="Poppins"/>
              <a:buNone/>
            </a:pPr>
            <a:r>
              <a:rPr lang="en-US" sz="2000" b="0" i="0" u="none" strike="noStrike" cap="none">
                <a:solidFill>
                  <a:srgbClr val="953C96"/>
                </a:solidFill>
                <a:latin typeface="Poppins"/>
                <a:ea typeface="Poppins"/>
                <a:cs typeface="Poppins"/>
                <a:sym typeface="Poppins"/>
              </a:rPr>
              <a:t>info@midcamp.org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2" name="Google Shape;62;p10"/>
          <p:cNvSpPr txBox="1"/>
          <p:nvPr/>
        </p:nvSpPr>
        <p:spPr>
          <a:xfrm>
            <a:off x="9009750" y="12306300"/>
            <a:ext cx="6364500" cy="35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53C96"/>
              </a:buClr>
              <a:buSzPts val="2000"/>
              <a:buFont typeface="Poppins"/>
              <a:buNone/>
            </a:pPr>
            <a:r>
              <a:rPr lang="en-US" sz="2000">
                <a:solidFill>
                  <a:srgbClr val="953C96"/>
                </a:solidFill>
                <a:latin typeface="Poppins"/>
                <a:ea typeface="Poppins"/>
                <a:cs typeface="Poppins"/>
                <a:sym typeface="Poppins"/>
              </a:rPr>
              <a:t>MidCamp 2026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Images: Title with Picture 1/3">
  <p:cSld name="Content Slide - Photo 1/3">
    <p:spTree>
      <p:nvGrpSpPr>
        <p:cNvPr id="1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11"/>
          <p:cNvSpPr txBox="1">
            <a:spLocks noGrp="1"/>
          </p:cNvSpPr>
          <p:nvPr>
            <p:ph type="title"/>
          </p:nvPr>
        </p:nvSpPr>
        <p:spPr>
          <a:xfrm>
            <a:off x="1669100" y="2414475"/>
            <a:ext cx="12730800" cy="8679000"/>
          </a:xfrm>
          <a:prstGeom prst="rect">
            <a:avLst/>
          </a:prstGeom>
        </p:spPr>
        <p:txBody>
          <a:bodyPr spcFirstLastPara="1" wrap="square" lIns="50800" tIns="50800" rIns="50800" bIns="5080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8000"/>
              <a:buNone/>
              <a:defRPr sz="8000"/>
            </a:lvl1pPr>
            <a:lvl2pPr lvl="1">
              <a:spcBef>
                <a:spcPts val="0"/>
              </a:spcBef>
              <a:spcAft>
                <a:spcPts val="0"/>
              </a:spcAft>
              <a:buSzPts val="112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2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2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2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2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2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2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200"/>
              <a:buNone/>
              <a:defRPr/>
            </a:lvl9pPr>
          </a:lstStyle>
          <a:p>
            <a:endParaRPr/>
          </a:p>
        </p:txBody>
      </p:sp>
      <p:sp>
        <p:nvSpPr>
          <p:cNvPr id="65" name="Google Shape;65;p11"/>
          <p:cNvSpPr>
            <a:spLocks noGrp="1"/>
          </p:cNvSpPr>
          <p:nvPr>
            <p:ph type="pic" idx="2"/>
          </p:nvPr>
        </p:nvSpPr>
        <p:spPr>
          <a:xfrm>
            <a:off x="15309900" y="0"/>
            <a:ext cx="9074100" cy="1371600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Content Slide - Photo 1/2">
  <p:cSld name="Content Slide - Photo 1/3_3">
    <p:spTree>
      <p:nvGrpSpPr>
        <p:cNvPr id="1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12"/>
          <p:cNvSpPr txBox="1">
            <a:spLocks noGrp="1"/>
          </p:cNvSpPr>
          <p:nvPr>
            <p:ph type="sldNum" idx="12"/>
          </p:nvPr>
        </p:nvSpPr>
        <p:spPr>
          <a:xfrm>
            <a:off x="11610637" y="12661900"/>
            <a:ext cx="3208200" cy="35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t" anchorCtr="0">
            <a:noAutofit/>
          </a:bodyPr>
          <a:lstStyle>
            <a:lvl1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Helvetica Neue Light"/>
              <a:buNone/>
              <a:defRPr sz="2400" b="0" i="0" u="none" strike="noStrike" cap="none">
                <a:solidFill>
                  <a:srgbClr val="000000"/>
                </a:solidFill>
                <a:highlight>
                  <a:srgbClr val="953C96"/>
                </a:highlight>
                <a:latin typeface="Helvetica Neue Light"/>
                <a:ea typeface="Helvetica Neue Light"/>
                <a:cs typeface="Helvetica Neue Light"/>
                <a:sym typeface="Helvetica Neue Light"/>
              </a:defRPr>
            </a:lvl1pPr>
            <a:lvl2pPr marL="0" marR="0" lvl="1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Helvetica Neue Light"/>
              <a:buNone/>
              <a:defRPr sz="2400" b="0" i="0" u="none" strike="noStrike" cap="none">
                <a:solidFill>
                  <a:srgbClr val="000000"/>
                </a:solidFill>
                <a:highlight>
                  <a:srgbClr val="953C96"/>
                </a:highlight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marL="0" marR="0" lvl="2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Helvetica Neue Light"/>
              <a:buNone/>
              <a:defRPr sz="2400" b="0" i="0" u="none" strike="noStrike" cap="none">
                <a:solidFill>
                  <a:srgbClr val="000000"/>
                </a:solidFill>
                <a:highlight>
                  <a:srgbClr val="953C96"/>
                </a:highlight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marL="0" marR="0" lvl="3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Helvetica Neue Light"/>
              <a:buNone/>
              <a:defRPr sz="2400" b="0" i="0" u="none" strike="noStrike" cap="none">
                <a:solidFill>
                  <a:srgbClr val="000000"/>
                </a:solidFill>
                <a:highlight>
                  <a:srgbClr val="953C96"/>
                </a:highlight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marL="0" marR="0" lvl="4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Helvetica Neue Light"/>
              <a:buNone/>
              <a:defRPr sz="2400" b="0" i="0" u="none" strike="noStrike" cap="none">
                <a:solidFill>
                  <a:srgbClr val="000000"/>
                </a:solidFill>
                <a:highlight>
                  <a:srgbClr val="953C96"/>
                </a:highlight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marL="0" marR="0" lvl="5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Helvetica Neue Light"/>
              <a:buNone/>
              <a:defRPr sz="2400" b="0" i="0" u="none" strike="noStrike" cap="none">
                <a:solidFill>
                  <a:srgbClr val="000000"/>
                </a:solidFill>
                <a:highlight>
                  <a:srgbClr val="953C96"/>
                </a:highlight>
                <a:latin typeface="Helvetica Neue Light"/>
                <a:ea typeface="Helvetica Neue Light"/>
                <a:cs typeface="Helvetica Neue Light"/>
                <a:sym typeface="Helvetica Neue Light"/>
              </a:defRPr>
            </a:lvl6pPr>
            <a:lvl7pPr marL="0" marR="0" lvl="6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Helvetica Neue Light"/>
              <a:buNone/>
              <a:defRPr sz="2400" b="0" i="0" u="none" strike="noStrike" cap="none">
                <a:solidFill>
                  <a:srgbClr val="000000"/>
                </a:solidFill>
                <a:highlight>
                  <a:srgbClr val="953C96"/>
                </a:highlight>
                <a:latin typeface="Helvetica Neue Light"/>
                <a:ea typeface="Helvetica Neue Light"/>
                <a:cs typeface="Helvetica Neue Light"/>
                <a:sym typeface="Helvetica Neue Light"/>
              </a:defRPr>
            </a:lvl7pPr>
            <a:lvl8pPr marL="0" marR="0" lvl="7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Helvetica Neue Light"/>
              <a:buNone/>
              <a:defRPr sz="2400" b="0" i="0" u="none" strike="noStrike" cap="none">
                <a:solidFill>
                  <a:srgbClr val="000000"/>
                </a:solidFill>
                <a:highlight>
                  <a:srgbClr val="953C96"/>
                </a:highlight>
                <a:latin typeface="Helvetica Neue Light"/>
                <a:ea typeface="Helvetica Neue Light"/>
                <a:cs typeface="Helvetica Neue Light"/>
                <a:sym typeface="Helvetica Neue Light"/>
              </a:defRPr>
            </a:lvl8pPr>
            <a:lvl9pPr marL="0" marR="0" lvl="8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Helvetica Neue Light"/>
              <a:buNone/>
              <a:defRPr sz="2400" b="0" i="0" u="none" strike="noStrike" cap="none">
                <a:solidFill>
                  <a:srgbClr val="000000"/>
                </a:solidFill>
                <a:highlight>
                  <a:srgbClr val="953C96"/>
                </a:highlight>
                <a:latin typeface="Helvetica Neue Light"/>
                <a:ea typeface="Helvetica Neue Light"/>
                <a:cs typeface="Helvetica Neue Light"/>
                <a:sym typeface="Helvetica Neue Light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68" name="Google Shape;68;p12"/>
          <p:cNvSpPr txBox="1">
            <a:spLocks noGrp="1"/>
          </p:cNvSpPr>
          <p:nvPr>
            <p:ph type="title"/>
          </p:nvPr>
        </p:nvSpPr>
        <p:spPr>
          <a:xfrm>
            <a:off x="1669100" y="2414475"/>
            <a:ext cx="9563700" cy="8679000"/>
          </a:xfrm>
          <a:prstGeom prst="rect">
            <a:avLst/>
          </a:prstGeom>
        </p:spPr>
        <p:txBody>
          <a:bodyPr spcFirstLastPara="1" wrap="square" lIns="50800" tIns="50800" rIns="50800" bIns="5080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8000"/>
              <a:buNone/>
              <a:defRPr sz="8000"/>
            </a:lvl1pPr>
            <a:lvl2pPr lvl="1">
              <a:spcBef>
                <a:spcPts val="0"/>
              </a:spcBef>
              <a:spcAft>
                <a:spcPts val="0"/>
              </a:spcAft>
              <a:buSzPts val="112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2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2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2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2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2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2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200"/>
              <a:buNone/>
              <a:defRPr/>
            </a:lvl9pPr>
          </a:lstStyle>
          <a:p>
            <a:endParaRPr/>
          </a:p>
        </p:txBody>
      </p:sp>
      <p:sp>
        <p:nvSpPr>
          <p:cNvPr id="69" name="Google Shape;69;p12"/>
          <p:cNvSpPr>
            <a:spLocks noGrp="1"/>
          </p:cNvSpPr>
          <p:nvPr>
            <p:ph type="pic" idx="2"/>
          </p:nvPr>
        </p:nvSpPr>
        <p:spPr>
          <a:xfrm>
            <a:off x="12547800" y="0"/>
            <a:ext cx="11836200" cy="1371600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Content Slide - Photo 1/4">
  <p:cSld name="Content Slide - Photo 1/4">
    <p:spTree>
      <p:nvGrpSpPr>
        <p:cNvPr id="1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3"/>
          <p:cNvSpPr txBox="1"/>
          <p:nvPr/>
        </p:nvSpPr>
        <p:spPr>
          <a:xfrm>
            <a:off x="1129663" y="12306300"/>
            <a:ext cx="1742441" cy="35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53C96"/>
              </a:buClr>
              <a:buSzPts val="2000"/>
              <a:buFont typeface="Poppins"/>
              <a:buNone/>
            </a:pPr>
            <a:r>
              <a:rPr lang="en-US" sz="2000" b="0" i="0" u="none" strike="noStrike" cap="none">
                <a:solidFill>
                  <a:srgbClr val="953C96"/>
                </a:solidFill>
                <a:latin typeface="Poppins"/>
                <a:ea typeface="Poppins"/>
                <a:cs typeface="Poppins"/>
                <a:sym typeface="Poppins"/>
              </a:rPr>
              <a:t>midcamp.org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2" name="Google Shape;72;p13"/>
          <p:cNvSpPr txBox="1">
            <a:spLocks noGrp="1"/>
          </p:cNvSpPr>
          <p:nvPr>
            <p:ph type="title"/>
          </p:nvPr>
        </p:nvSpPr>
        <p:spPr>
          <a:xfrm>
            <a:off x="1669100" y="2414475"/>
            <a:ext cx="9563700" cy="8679000"/>
          </a:xfrm>
          <a:prstGeom prst="rect">
            <a:avLst/>
          </a:prstGeom>
        </p:spPr>
        <p:txBody>
          <a:bodyPr spcFirstLastPara="1" wrap="square" lIns="50800" tIns="50800" rIns="50800" bIns="5080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8000"/>
              <a:buNone/>
              <a:defRPr sz="8000"/>
            </a:lvl1pPr>
            <a:lvl2pPr lvl="1">
              <a:spcBef>
                <a:spcPts val="0"/>
              </a:spcBef>
              <a:spcAft>
                <a:spcPts val="0"/>
              </a:spcAft>
              <a:buSzPts val="112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2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2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2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2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2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2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200"/>
              <a:buNone/>
              <a:defRPr/>
            </a:lvl9pPr>
          </a:lstStyle>
          <a:p>
            <a:endParaRPr/>
          </a:p>
        </p:txBody>
      </p:sp>
      <p:sp>
        <p:nvSpPr>
          <p:cNvPr id="73" name="Google Shape;73;p13"/>
          <p:cNvSpPr>
            <a:spLocks noGrp="1"/>
          </p:cNvSpPr>
          <p:nvPr>
            <p:ph type="pic" idx="2"/>
          </p:nvPr>
        </p:nvSpPr>
        <p:spPr>
          <a:xfrm>
            <a:off x="16018675" y="0"/>
            <a:ext cx="8365200" cy="1371600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Content Slide - Photo 2/3">
  <p:cSld name="Content Slide - Photo 2/3">
    <p:spTree>
      <p:nvGrpSpPr>
        <p:cNvPr id="1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4"/>
          <p:cNvSpPr txBox="1"/>
          <p:nvPr/>
        </p:nvSpPr>
        <p:spPr>
          <a:xfrm>
            <a:off x="1129663" y="12306300"/>
            <a:ext cx="1742441" cy="35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53C96"/>
              </a:buClr>
              <a:buSzPts val="2000"/>
              <a:buFont typeface="Poppins"/>
              <a:buNone/>
            </a:pPr>
            <a:r>
              <a:rPr lang="en-US" sz="2000" b="0" i="0" u="none" strike="noStrike" cap="none">
                <a:solidFill>
                  <a:srgbClr val="953C96"/>
                </a:solidFill>
                <a:latin typeface="Poppins"/>
                <a:ea typeface="Poppins"/>
                <a:cs typeface="Poppins"/>
                <a:sym typeface="Poppins"/>
              </a:rPr>
              <a:t>midcamp.org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6" name="Google Shape;76;p14"/>
          <p:cNvSpPr txBox="1">
            <a:spLocks noGrp="1"/>
          </p:cNvSpPr>
          <p:nvPr>
            <p:ph type="sldNum" idx="12"/>
          </p:nvPr>
        </p:nvSpPr>
        <p:spPr>
          <a:xfrm>
            <a:off x="11610637" y="12661900"/>
            <a:ext cx="3208200" cy="35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t" anchorCtr="0">
            <a:noAutofit/>
          </a:bodyPr>
          <a:lstStyle>
            <a:lvl1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Helvetica Neue Light"/>
              <a:buNone/>
              <a:defRPr sz="2400" b="0" i="0" u="none" strike="noStrike" cap="none">
                <a:solidFill>
                  <a:srgbClr val="953C96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1pPr>
            <a:lvl2pPr marL="0" marR="0" lvl="1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Helvetica Neue Light"/>
              <a:buNone/>
              <a:defRPr sz="2400" b="0" i="0" u="none" strike="noStrike" cap="none">
                <a:solidFill>
                  <a:srgbClr val="953C96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marL="0" marR="0" lvl="2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Helvetica Neue Light"/>
              <a:buNone/>
              <a:defRPr sz="2400" b="0" i="0" u="none" strike="noStrike" cap="none">
                <a:solidFill>
                  <a:srgbClr val="953C96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marL="0" marR="0" lvl="3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Helvetica Neue Light"/>
              <a:buNone/>
              <a:defRPr sz="2400" b="0" i="0" u="none" strike="noStrike" cap="none">
                <a:solidFill>
                  <a:srgbClr val="953C96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marL="0" marR="0" lvl="4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Helvetica Neue Light"/>
              <a:buNone/>
              <a:defRPr sz="2400" b="0" i="0" u="none" strike="noStrike" cap="none">
                <a:solidFill>
                  <a:srgbClr val="953C96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marL="0" marR="0" lvl="5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Helvetica Neue Light"/>
              <a:buNone/>
              <a:defRPr sz="2400" b="0" i="0" u="none" strike="noStrike" cap="none">
                <a:solidFill>
                  <a:srgbClr val="953C96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6pPr>
            <a:lvl7pPr marL="0" marR="0" lvl="6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Helvetica Neue Light"/>
              <a:buNone/>
              <a:defRPr sz="2400" b="0" i="0" u="none" strike="noStrike" cap="none">
                <a:solidFill>
                  <a:srgbClr val="953C96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7pPr>
            <a:lvl8pPr marL="0" marR="0" lvl="7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Helvetica Neue Light"/>
              <a:buNone/>
              <a:defRPr sz="2400" b="0" i="0" u="none" strike="noStrike" cap="none">
                <a:solidFill>
                  <a:srgbClr val="953C96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8pPr>
            <a:lvl9pPr marL="0" marR="0" lvl="8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Helvetica Neue Light"/>
              <a:buNone/>
              <a:defRPr sz="2400" b="0" i="0" u="none" strike="noStrike" cap="none">
                <a:solidFill>
                  <a:srgbClr val="953C96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77" name="Google Shape;77;p14"/>
          <p:cNvSpPr txBox="1">
            <a:spLocks noGrp="1"/>
          </p:cNvSpPr>
          <p:nvPr>
            <p:ph type="sldNum" idx="2"/>
          </p:nvPr>
        </p:nvSpPr>
        <p:spPr>
          <a:xfrm>
            <a:off x="11610637" y="12661900"/>
            <a:ext cx="3208200" cy="35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t" anchorCtr="0">
            <a:noAutofit/>
          </a:bodyPr>
          <a:lstStyle>
            <a:lvl1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Helvetica Neue Light"/>
              <a:buNone/>
              <a:defRPr sz="2400" b="0" i="0" u="none" strike="noStrike" cap="none">
                <a:solidFill>
                  <a:srgbClr val="000000"/>
                </a:solidFill>
                <a:highlight>
                  <a:srgbClr val="953C96"/>
                </a:highlight>
                <a:latin typeface="Helvetica Neue Light"/>
                <a:ea typeface="Helvetica Neue Light"/>
                <a:cs typeface="Helvetica Neue Light"/>
                <a:sym typeface="Helvetica Neue Light"/>
              </a:defRPr>
            </a:lvl1pPr>
            <a:lvl2pPr marL="0" marR="0" lvl="1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Helvetica Neue Light"/>
              <a:buNone/>
              <a:defRPr sz="2400" b="0" i="0" u="none" strike="noStrike" cap="none">
                <a:solidFill>
                  <a:srgbClr val="000000"/>
                </a:solidFill>
                <a:highlight>
                  <a:srgbClr val="953C96"/>
                </a:highlight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marL="0" marR="0" lvl="2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Helvetica Neue Light"/>
              <a:buNone/>
              <a:defRPr sz="2400" b="0" i="0" u="none" strike="noStrike" cap="none">
                <a:solidFill>
                  <a:srgbClr val="000000"/>
                </a:solidFill>
                <a:highlight>
                  <a:srgbClr val="953C96"/>
                </a:highlight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marL="0" marR="0" lvl="3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Helvetica Neue Light"/>
              <a:buNone/>
              <a:defRPr sz="2400" b="0" i="0" u="none" strike="noStrike" cap="none">
                <a:solidFill>
                  <a:srgbClr val="000000"/>
                </a:solidFill>
                <a:highlight>
                  <a:srgbClr val="953C96"/>
                </a:highlight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marL="0" marR="0" lvl="4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Helvetica Neue Light"/>
              <a:buNone/>
              <a:defRPr sz="2400" b="0" i="0" u="none" strike="noStrike" cap="none">
                <a:solidFill>
                  <a:srgbClr val="000000"/>
                </a:solidFill>
                <a:highlight>
                  <a:srgbClr val="953C96"/>
                </a:highlight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marL="0" marR="0" lvl="5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Helvetica Neue Light"/>
              <a:buNone/>
              <a:defRPr sz="2400" b="0" i="0" u="none" strike="noStrike" cap="none">
                <a:solidFill>
                  <a:srgbClr val="000000"/>
                </a:solidFill>
                <a:highlight>
                  <a:srgbClr val="953C96"/>
                </a:highlight>
                <a:latin typeface="Helvetica Neue Light"/>
                <a:ea typeface="Helvetica Neue Light"/>
                <a:cs typeface="Helvetica Neue Light"/>
                <a:sym typeface="Helvetica Neue Light"/>
              </a:defRPr>
            </a:lvl6pPr>
            <a:lvl7pPr marL="0" marR="0" lvl="6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Helvetica Neue Light"/>
              <a:buNone/>
              <a:defRPr sz="2400" b="0" i="0" u="none" strike="noStrike" cap="none">
                <a:solidFill>
                  <a:srgbClr val="000000"/>
                </a:solidFill>
                <a:highlight>
                  <a:srgbClr val="953C96"/>
                </a:highlight>
                <a:latin typeface="Helvetica Neue Light"/>
                <a:ea typeface="Helvetica Neue Light"/>
                <a:cs typeface="Helvetica Neue Light"/>
                <a:sym typeface="Helvetica Neue Light"/>
              </a:defRPr>
            </a:lvl7pPr>
            <a:lvl8pPr marL="0" marR="0" lvl="7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Helvetica Neue Light"/>
              <a:buNone/>
              <a:defRPr sz="2400" b="0" i="0" u="none" strike="noStrike" cap="none">
                <a:solidFill>
                  <a:srgbClr val="000000"/>
                </a:solidFill>
                <a:highlight>
                  <a:srgbClr val="953C96"/>
                </a:highlight>
                <a:latin typeface="Helvetica Neue Light"/>
                <a:ea typeface="Helvetica Neue Light"/>
                <a:cs typeface="Helvetica Neue Light"/>
                <a:sym typeface="Helvetica Neue Light"/>
              </a:defRPr>
            </a:lvl8pPr>
            <a:lvl9pPr marL="0" marR="0" lvl="8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Helvetica Neue Light"/>
              <a:buNone/>
              <a:defRPr sz="2400" b="0" i="0" u="none" strike="noStrike" cap="none">
                <a:solidFill>
                  <a:srgbClr val="000000"/>
                </a:solidFill>
                <a:highlight>
                  <a:srgbClr val="953C96"/>
                </a:highlight>
                <a:latin typeface="Helvetica Neue Light"/>
                <a:ea typeface="Helvetica Neue Light"/>
                <a:cs typeface="Helvetica Neue Light"/>
                <a:sym typeface="Helvetica Neue Light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78" name="Google Shape;78;p14"/>
          <p:cNvSpPr txBox="1">
            <a:spLocks noGrp="1"/>
          </p:cNvSpPr>
          <p:nvPr>
            <p:ph type="title"/>
          </p:nvPr>
        </p:nvSpPr>
        <p:spPr>
          <a:xfrm>
            <a:off x="1669100" y="2414475"/>
            <a:ext cx="5005500" cy="8679000"/>
          </a:xfrm>
          <a:prstGeom prst="rect">
            <a:avLst/>
          </a:prstGeom>
        </p:spPr>
        <p:txBody>
          <a:bodyPr spcFirstLastPara="1" wrap="square" lIns="50800" tIns="50800" rIns="50800" bIns="5080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8000"/>
              <a:buNone/>
              <a:defRPr sz="8000"/>
            </a:lvl1pPr>
            <a:lvl2pPr lvl="1">
              <a:spcBef>
                <a:spcPts val="0"/>
              </a:spcBef>
              <a:spcAft>
                <a:spcPts val="0"/>
              </a:spcAft>
              <a:buSzPts val="112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2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2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2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2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2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2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200"/>
              <a:buNone/>
              <a:defRPr/>
            </a:lvl9pPr>
          </a:lstStyle>
          <a:p>
            <a:endParaRPr/>
          </a:p>
        </p:txBody>
      </p:sp>
      <p:sp>
        <p:nvSpPr>
          <p:cNvPr id="79" name="Google Shape;79;p14"/>
          <p:cNvSpPr>
            <a:spLocks noGrp="1"/>
          </p:cNvSpPr>
          <p:nvPr>
            <p:ph type="pic" idx="3"/>
          </p:nvPr>
        </p:nvSpPr>
        <p:spPr>
          <a:xfrm>
            <a:off x="8009350" y="0"/>
            <a:ext cx="16374600" cy="1371600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Thank You - Purple">
  <p:cSld name="Thank You - Purple"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5"/>
          <p:cNvSpPr/>
          <p:nvPr/>
        </p:nvSpPr>
        <p:spPr>
          <a:xfrm>
            <a:off x="0" y="0"/>
            <a:ext cx="24384001" cy="13716000"/>
          </a:xfrm>
          <a:prstGeom prst="rect">
            <a:avLst/>
          </a:prstGeom>
          <a:solidFill>
            <a:srgbClr val="652966"/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Helvetica Neue"/>
              <a:buNone/>
            </a:pPr>
            <a:endParaRPr sz="3200" b="0" i="0" u="none" strike="noStrike" cap="none">
              <a:solidFill>
                <a:srgbClr val="FFFFFF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pic>
        <p:nvPicPr>
          <p:cNvPr id="82" name="Google Shape;82;p15" descr="Image"/>
          <p:cNvPicPr preferRelativeResize="0"/>
          <p:nvPr/>
        </p:nvPicPr>
        <p:blipFill rotWithShape="1">
          <a:blip r:embed="rId2">
            <a:alphaModFix amt="20000"/>
          </a:blip>
          <a:srcRect/>
          <a:stretch/>
        </p:blipFill>
        <p:spPr>
          <a:xfrm rot="5400000">
            <a:off x="-4953076" y="10082279"/>
            <a:ext cx="11091647" cy="2824542"/>
          </a:xfrm>
          <a:prstGeom prst="rect">
            <a:avLst/>
          </a:prstGeom>
          <a:noFill/>
          <a:ln>
            <a:noFill/>
          </a:ln>
        </p:spPr>
      </p:pic>
      <p:pic>
        <p:nvPicPr>
          <p:cNvPr id="83" name="Google Shape;83;p15" descr="Image"/>
          <p:cNvPicPr preferRelativeResize="0"/>
          <p:nvPr/>
        </p:nvPicPr>
        <p:blipFill rotWithShape="1">
          <a:blip r:embed="rId2">
            <a:alphaModFix amt="20000"/>
          </a:blip>
          <a:srcRect/>
          <a:stretch/>
        </p:blipFill>
        <p:spPr>
          <a:xfrm rot="10686707">
            <a:off x="-219747" y="-1714084"/>
            <a:ext cx="11091647" cy="2824542"/>
          </a:xfrm>
          <a:prstGeom prst="rect">
            <a:avLst/>
          </a:prstGeom>
          <a:noFill/>
          <a:ln>
            <a:noFill/>
          </a:ln>
        </p:spPr>
      </p:pic>
      <p:sp>
        <p:nvSpPr>
          <p:cNvPr id="84" name="Google Shape;84;p15"/>
          <p:cNvSpPr txBox="1"/>
          <p:nvPr/>
        </p:nvSpPr>
        <p:spPr>
          <a:xfrm>
            <a:off x="9210299" y="12306350"/>
            <a:ext cx="5963400" cy="35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000"/>
              <a:buFont typeface="Poppins"/>
              <a:buNone/>
            </a:pPr>
            <a:r>
              <a:rPr lang="en-US" sz="2000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MidCamp 2026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5" name="Google Shape;85;p15"/>
          <p:cNvSpPr txBox="1"/>
          <p:nvPr/>
        </p:nvSpPr>
        <p:spPr>
          <a:xfrm>
            <a:off x="23121528" y="12306300"/>
            <a:ext cx="127001" cy="35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000"/>
              <a:buFont typeface="Poppins"/>
              <a:buNone/>
            </a:pPr>
            <a:r>
              <a:rPr lang="en-US" sz="2000" b="0" i="0" u="sng" strike="noStrike" cap="none">
                <a:solidFill>
                  <a:schemeClr val="hlink"/>
                </a:solidFill>
                <a:latin typeface="Poppins"/>
                <a:ea typeface="Poppins"/>
                <a:cs typeface="Poppins"/>
                <a:sym typeface="Poppins"/>
                <a:hlinkClick r:id="rId3"/>
              </a:rPr>
              <a:t> 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6" name="Google Shape;86;p15"/>
          <p:cNvSpPr txBox="1"/>
          <p:nvPr/>
        </p:nvSpPr>
        <p:spPr>
          <a:xfrm>
            <a:off x="1133797" y="12306300"/>
            <a:ext cx="1742441" cy="35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000"/>
              <a:buFont typeface="Poppins"/>
              <a:buNone/>
            </a:pPr>
            <a:r>
              <a:rPr lang="en-US" sz="2000" b="0" i="0" u="none" strike="noStrike" cap="none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midcamp.org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7" name="Google Shape;87;p15"/>
          <p:cNvSpPr txBox="1"/>
          <p:nvPr/>
        </p:nvSpPr>
        <p:spPr>
          <a:xfrm>
            <a:off x="20742564" y="12306300"/>
            <a:ext cx="2505965" cy="35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000"/>
              <a:buFont typeface="Poppins"/>
              <a:buNone/>
            </a:pPr>
            <a:r>
              <a:rPr lang="en-US" sz="2000" b="0" i="0" u="none" strike="noStrike" cap="none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info@midcamp.org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Section Title - Yellow">
  <p:cSld name="Section Title - Yellow">
    <p:spTree>
      <p:nvGrpSpPr>
        <p:cNvPr id="1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p16"/>
          <p:cNvSpPr/>
          <p:nvPr/>
        </p:nvSpPr>
        <p:spPr>
          <a:xfrm flipH="1">
            <a:off x="-1" y="0"/>
            <a:ext cx="24384001" cy="13716000"/>
          </a:xfrm>
          <a:prstGeom prst="rect">
            <a:avLst/>
          </a:prstGeom>
          <a:solidFill>
            <a:srgbClr val="FFEB36"/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Helvetica Neue"/>
              <a:buNone/>
            </a:pPr>
            <a:endParaRPr sz="3200" b="0" i="0" u="none" strike="noStrike" cap="none">
              <a:solidFill>
                <a:srgbClr val="FFFFFF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sp>
        <p:nvSpPr>
          <p:cNvPr id="90" name="Google Shape;90;p16"/>
          <p:cNvSpPr txBox="1"/>
          <p:nvPr/>
        </p:nvSpPr>
        <p:spPr>
          <a:xfrm>
            <a:off x="23121528" y="12306300"/>
            <a:ext cx="127001" cy="35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000"/>
              <a:buFont typeface="Poppins"/>
              <a:buNone/>
            </a:pPr>
            <a:r>
              <a:rPr lang="en-US" sz="2000" b="0" i="0" u="sng" strike="noStrike" cap="none">
                <a:solidFill>
                  <a:schemeClr val="hlink"/>
                </a:solidFill>
                <a:latin typeface="Poppins"/>
                <a:ea typeface="Poppins"/>
                <a:cs typeface="Poppins"/>
                <a:sym typeface="Poppins"/>
                <a:hlinkClick r:id="rId2"/>
              </a:rPr>
              <a:t> 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1" name="Google Shape;91;p16"/>
          <p:cNvSpPr txBox="1"/>
          <p:nvPr/>
        </p:nvSpPr>
        <p:spPr>
          <a:xfrm>
            <a:off x="20742564" y="12306300"/>
            <a:ext cx="2505965" cy="35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Poppins"/>
              <a:buNone/>
            </a:pPr>
            <a:r>
              <a:rPr lang="en-US" sz="2000" b="0" i="0" u="none" strike="noStrike" cap="none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info@midcamp.org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92" name="Google Shape;92;p16" descr="Image"/>
          <p:cNvPicPr preferRelativeResize="0"/>
          <p:nvPr/>
        </p:nvPicPr>
        <p:blipFill rotWithShape="1">
          <a:blip r:embed="rId3">
            <a:alphaModFix amt="25000"/>
          </a:blip>
          <a:srcRect/>
          <a:stretch/>
        </p:blipFill>
        <p:spPr>
          <a:xfrm>
            <a:off x="22105094" y="5830895"/>
            <a:ext cx="3232826" cy="10304881"/>
          </a:xfrm>
          <a:prstGeom prst="rect">
            <a:avLst/>
          </a:prstGeom>
          <a:noFill/>
          <a:ln>
            <a:noFill/>
          </a:ln>
        </p:spPr>
      </p:pic>
      <p:sp>
        <p:nvSpPr>
          <p:cNvPr id="93" name="Google Shape;93;p16"/>
          <p:cNvSpPr txBox="1"/>
          <p:nvPr/>
        </p:nvSpPr>
        <p:spPr>
          <a:xfrm>
            <a:off x="1133797" y="12306300"/>
            <a:ext cx="1742441" cy="35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Poppins"/>
              <a:buNone/>
            </a:pPr>
            <a:r>
              <a:rPr lang="en-US" sz="2000" b="0" i="0" u="none" strike="noStrike" cap="none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midcamp.org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94" name="Google Shape;94;p16" descr="Image"/>
          <p:cNvPicPr preferRelativeResize="0"/>
          <p:nvPr/>
        </p:nvPicPr>
        <p:blipFill rotWithShape="1">
          <a:blip r:embed="rId3">
            <a:alphaModFix amt="32999"/>
          </a:blip>
          <a:srcRect/>
          <a:stretch/>
        </p:blipFill>
        <p:spPr>
          <a:xfrm rot="5177869">
            <a:off x="3629647" y="-5152440"/>
            <a:ext cx="3232826" cy="10304880"/>
          </a:xfrm>
          <a:prstGeom prst="rect">
            <a:avLst/>
          </a:prstGeom>
          <a:noFill/>
          <a:ln>
            <a:noFill/>
          </a:ln>
        </p:spPr>
      </p:pic>
      <p:pic>
        <p:nvPicPr>
          <p:cNvPr id="95" name="Google Shape;95;p16" descr="Image"/>
          <p:cNvPicPr preferRelativeResize="0"/>
          <p:nvPr/>
        </p:nvPicPr>
        <p:blipFill rotWithShape="1">
          <a:blip r:embed="rId3">
            <a:alphaModFix amt="32999"/>
          </a:blip>
          <a:srcRect/>
          <a:stretch/>
        </p:blipFill>
        <p:spPr>
          <a:xfrm>
            <a:off x="-1616413" y="5830895"/>
            <a:ext cx="3232826" cy="10304881"/>
          </a:xfrm>
          <a:prstGeom prst="rect">
            <a:avLst/>
          </a:prstGeom>
          <a:noFill/>
          <a:ln>
            <a:noFill/>
          </a:ln>
        </p:spPr>
      </p:pic>
      <p:sp>
        <p:nvSpPr>
          <p:cNvPr id="96" name="Google Shape;96;p16"/>
          <p:cNvSpPr txBox="1"/>
          <p:nvPr/>
        </p:nvSpPr>
        <p:spPr>
          <a:xfrm>
            <a:off x="9203949" y="12306300"/>
            <a:ext cx="5963400" cy="35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000"/>
              <a:buFont typeface="Poppins"/>
              <a:buNone/>
            </a:pPr>
            <a:r>
              <a:rPr lang="en-US" sz="2000">
                <a:latin typeface="Poppins"/>
                <a:ea typeface="Poppins"/>
                <a:cs typeface="Poppins"/>
                <a:sym typeface="Poppins"/>
              </a:rPr>
              <a:t>MidCamp 2026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Section Title - Blue">
  <p:cSld name="Section Title - Orange copy">
    <p:spTree>
      <p:nvGrpSpPr>
        <p:cNvPr id="1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17"/>
          <p:cNvSpPr/>
          <p:nvPr/>
        </p:nvSpPr>
        <p:spPr>
          <a:xfrm>
            <a:off x="0" y="0"/>
            <a:ext cx="24384001" cy="13716000"/>
          </a:xfrm>
          <a:prstGeom prst="rect">
            <a:avLst/>
          </a:prstGeom>
          <a:solidFill>
            <a:srgbClr val="0961A5"/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Helvetica Neue"/>
              <a:buNone/>
            </a:pPr>
            <a:endParaRPr sz="3200" b="0" i="0" u="none" strike="noStrike" cap="none">
              <a:solidFill>
                <a:srgbClr val="FFFFFF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sp>
        <p:nvSpPr>
          <p:cNvPr id="99" name="Google Shape;99;p17"/>
          <p:cNvSpPr txBox="1"/>
          <p:nvPr/>
        </p:nvSpPr>
        <p:spPr>
          <a:xfrm>
            <a:off x="23121528" y="12306300"/>
            <a:ext cx="127001" cy="35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000"/>
              <a:buFont typeface="Poppins"/>
              <a:buNone/>
            </a:pPr>
            <a:r>
              <a:rPr lang="en-US" sz="2000" b="0" i="0" u="sng" strike="noStrike" cap="none">
                <a:solidFill>
                  <a:schemeClr val="hlink"/>
                </a:solidFill>
                <a:latin typeface="Poppins"/>
                <a:ea typeface="Poppins"/>
                <a:cs typeface="Poppins"/>
                <a:sym typeface="Poppins"/>
                <a:hlinkClick r:id="rId2"/>
              </a:rPr>
              <a:t> 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00" name="Google Shape;100;p17" descr="Image"/>
          <p:cNvPicPr preferRelativeResize="0"/>
          <p:nvPr/>
        </p:nvPicPr>
        <p:blipFill rotWithShape="1">
          <a:blip r:embed="rId3">
            <a:alphaModFix amt="33000"/>
          </a:blip>
          <a:srcRect/>
          <a:stretch/>
        </p:blipFill>
        <p:spPr>
          <a:xfrm rot="5688933">
            <a:off x="-5642123" y="9879427"/>
            <a:ext cx="10700046" cy="2724819"/>
          </a:xfrm>
          <a:prstGeom prst="rect">
            <a:avLst/>
          </a:prstGeom>
          <a:noFill/>
          <a:ln>
            <a:noFill/>
          </a:ln>
        </p:spPr>
      </p:pic>
      <p:pic>
        <p:nvPicPr>
          <p:cNvPr id="101" name="Google Shape;101;p17" descr="Image"/>
          <p:cNvPicPr preferRelativeResize="0"/>
          <p:nvPr/>
        </p:nvPicPr>
        <p:blipFill rotWithShape="1">
          <a:blip r:embed="rId3">
            <a:alphaModFix amt="33000"/>
          </a:blip>
          <a:srcRect/>
          <a:stretch/>
        </p:blipFill>
        <p:spPr>
          <a:xfrm rot="-313130">
            <a:off x="1007162" y="-1362409"/>
            <a:ext cx="10700046" cy="2724818"/>
          </a:xfrm>
          <a:prstGeom prst="rect">
            <a:avLst/>
          </a:prstGeom>
          <a:noFill/>
          <a:ln>
            <a:noFill/>
          </a:ln>
        </p:spPr>
      </p:pic>
      <p:sp>
        <p:nvSpPr>
          <p:cNvPr id="102" name="Google Shape;102;p17"/>
          <p:cNvSpPr txBox="1"/>
          <p:nvPr/>
        </p:nvSpPr>
        <p:spPr>
          <a:xfrm>
            <a:off x="1133797" y="12306300"/>
            <a:ext cx="1742441" cy="35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000"/>
              <a:buFont typeface="Poppins"/>
              <a:buNone/>
            </a:pPr>
            <a:r>
              <a:rPr lang="en-US" sz="2000" b="0" i="0" u="none" strike="noStrike" cap="none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midcamp.org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3" name="Google Shape;103;p17"/>
          <p:cNvSpPr txBox="1"/>
          <p:nvPr/>
        </p:nvSpPr>
        <p:spPr>
          <a:xfrm>
            <a:off x="20742564" y="12306300"/>
            <a:ext cx="2505965" cy="35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000"/>
              <a:buFont typeface="Poppins"/>
              <a:buNone/>
            </a:pPr>
            <a:r>
              <a:rPr lang="en-US" sz="2000" b="0" i="0" u="none" strike="noStrike" cap="none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info@midcamp.org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4" name="Google Shape;104;p17"/>
          <p:cNvSpPr txBox="1"/>
          <p:nvPr/>
        </p:nvSpPr>
        <p:spPr>
          <a:xfrm>
            <a:off x="9203949" y="12306300"/>
            <a:ext cx="5963400" cy="35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000"/>
              <a:buFont typeface="Poppins"/>
              <a:buNone/>
            </a:pPr>
            <a:r>
              <a:rPr lang="en-US" sz="2000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MidCamp 2026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5" name="Google Shape;105;p17"/>
          <p:cNvSpPr txBox="1"/>
          <p:nvPr/>
        </p:nvSpPr>
        <p:spPr>
          <a:xfrm>
            <a:off x="20742564" y="12306300"/>
            <a:ext cx="2505900" cy="35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000"/>
              <a:buFont typeface="Poppins"/>
              <a:buNone/>
            </a:pPr>
            <a:r>
              <a:rPr lang="en-US" sz="2000" b="0" i="0" u="none" strike="noStrike" cap="none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info@midcamp.org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6" name="Google Shape;106;p17"/>
          <p:cNvSpPr txBox="1">
            <a:spLocks noGrp="1"/>
          </p:cNvSpPr>
          <p:nvPr>
            <p:ph type="ctrTitle"/>
          </p:nvPr>
        </p:nvSpPr>
        <p:spPr>
          <a:xfrm>
            <a:off x="3048000" y="2854326"/>
            <a:ext cx="18288000" cy="477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Font typeface="Averia Serif Libre"/>
              <a:buNone/>
              <a:defRPr sz="12000">
                <a:solidFill>
                  <a:schemeClr val="lt1"/>
                </a:solidFill>
                <a:latin typeface="Averia Serif Libre"/>
                <a:ea typeface="Averia Serif Libre"/>
                <a:cs typeface="Averia Serif Libre"/>
                <a:sym typeface="Averia Serif Libre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Averia Serif Libre"/>
              <a:buNone/>
              <a:defRPr>
                <a:solidFill>
                  <a:schemeClr val="lt1"/>
                </a:solidFill>
                <a:latin typeface="Averia Serif Libre"/>
                <a:ea typeface="Averia Serif Libre"/>
                <a:cs typeface="Averia Serif Libre"/>
                <a:sym typeface="Averia Serif Libre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Averia Serif Libre"/>
              <a:buNone/>
              <a:defRPr>
                <a:solidFill>
                  <a:schemeClr val="lt1"/>
                </a:solidFill>
                <a:latin typeface="Averia Serif Libre"/>
                <a:ea typeface="Averia Serif Libre"/>
                <a:cs typeface="Averia Serif Libre"/>
                <a:sym typeface="Averia Serif Libre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Averia Serif Libre"/>
              <a:buNone/>
              <a:defRPr>
                <a:solidFill>
                  <a:schemeClr val="lt1"/>
                </a:solidFill>
                <a:latin typeface="Averia Serif Libre"/>
                <a:ea typeface="Averia Serif Libre"/>
                <a:cs typeface="Averia Serif Libre"/>
                <a:sym typeface="Averia Serif Libre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Averia Serif Libre"/>
              <a:buNone/>
              <a:defRPr>
                <a:solidFill>
                  <a:schemeClr val="lt1"/>
                </a:solidFill>
                <a:latin typeface="Averia Serif Libre"/>
                <a:ea typeface="Averia Serif Libre"/>
                <a:cs typeface="Averia Serif Libre"/>
                <a:sym typeface="Averia Serif Libre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Averia Serif Libre"/>
              <a:buNone/>
              <a:defRPr>
                <a:solidFill>
                  <a:schemeClr val="lt1"/>
                </a:solidFill>
                <a:latin typeface="Averia Serif Libre"/>
                <a:ea typeface="Averia Serif Libre"/>
                <a:cs typeface="Averia Serif Libre"/>
                <a:sym typeface="Averia Serif Libre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Averia Serif Libre"/>
              <a:buNone/>
              <a:defRPr>
                <a:solidFill>
                  <a:schemeClr val="lt1"/>
                </a:solidFill>
                <a:latin typeface="Averia Serif Libre"/>
                <a:ea typeface="Averia Serif Libre"/>
                <a:cs typeface="Averia Serif Libre"/>
                <a:sym typeface="Averia Serif Libre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Averia Serif Libre"/>
              <a:buNone/>
              <a:defRPr>
                <a:solidFill>
                  <a:schemeClr val="lt1"/>
                </a:solidFill>
                <a:latin typeface="Averia Serif Libre"/>
                <a:ea typeface="Averia Serif Libre"/>
                <a:cs typeface="Averia Serif Libre"/>
                <a:sym typeface="Averia Serif Libre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Averia Serif Libre"/>
              <a:buNone/>
              <a:defRPr>
                <a:solidFill>
                  <a:schemeClr val="lt1"/>
                </a:solidFill>
                <a:latin typeface="Averia Serif Libre"/>
                <a:ea typeface="Averia Serif Libre"/>
                <a:cs typeface="Averia Serif Libre"/>
                <a:sym typeface="Averia Serif Libre"/>
              </a:defRPr>
            </a:lvl9pPr>
          </a:lstStyle>
          <a:p>
            <a:endParaRPr/>
          </a:p>
        </p:txBody>
      </p:sp>
      <p:sp>
        <p:nvSpPr>
          <p:cNvPr id="107" name="Google Shape;107;p17"/>
          <p:cNvSpPr txBox="1">
            <a:spLocks noGrp="1"/>
          </p:cNvSpPr>
          <p:nvPr>
            <p:ph type="subTitle" idx="1"/>
          </p:nvPr>
        </p:nvSpPr>
        <p:spPr>
          <a:xfrm>
            <a:off x="3048000" y="8806085"/>
            <a:ext cx="18288000" cy="2690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ctr">
              <a:lnSpc>
                <a:spcPct val="120000"/>
              </a:lnSpc>
              <a:spcBef>
                <a:spcPts val="2000"/>
              </a:spcBef>
              <a:spcAft>
                <a:spcPts val="0"/>
              </a:spcAft>
              <a:buClr>
                <a:schemeClr val="lt1"/>
              </a:buClr>
              <a:buSzPts val="5000"/>
              <a:buFont typeface="Poppins"/>
              <a:buNone/>
              <a:defRPr sz="50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1pPr>
            <a:lvl2pPr lvl="1" algn="ctr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000"/>
              <a:buNone/>
              <a:defRPr sz="4000">
                <a:solidFill>
                  <a:schemeClr val="lt1"/>
                </a:solidFill>
              </a:defRPr>
            </a:lvl2pPr>
            <a:lvl3pPr lvl="2" algn="ctr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3pPr>
            <a:lvl4pPr lvl="3" algn="ctr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3200"/>
              <a:buNone/>
              <a:defRPr sz="3200">
                <a:solidFill>
                  <a:schemeClr val="lt1"/>
                </a:solidFill>
              </a:defRPr>
            </a:lvl4pPr>
            <a:lvl5pPr lvl="4" algn="ctr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3200"/>
              <a:buNone/>
              <a:defRPr sz="3200">
                <a:solidFill>
                  <a:schemeClr val="lt1"/>
                </a:solidFill>
              </a:defRPr>
            </a:lvl5pPr>
            <a:lvl6pPr lvl="5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3200"/>
              <a:buNone/>
              <a:defRPr sz="3200">
                <a:solidFill>
                  <a:schemeClr val="lt1"/>
                </a:solidFill>
              </a:defRPr>
            </a:lvl6pPr>
            <a:lvl7pPr lvl="6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3200"/>
              <a:buNone/>
              <a:defRPr sz="3200">
                <a:solidFill>
                  <a:schemeClr val="lt1"/>
                </a:solidFill>
              </a:defRPr>
            </a:lvl7pPr>
            <a:lvl8pPr lvl="7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3200"/>
              <a:buNone/>
              <a:defRPr sz="3200">
                <a:solidFill>
                  <a:schemeClr val="lt1"/>
                </a:solidFill>
              </a:defRPr>
            </a:lvl8pPr>
            <a:lvl9pPr lvl="8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3200"/>
              <a:buNone/>
              <a:defRPr sz="32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1669100" y="1197425"/>
            <a:ext cx="20828100" cy="2035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t" anchorCtr="0">
            <a:noAutofit/>
          </a:bodyPr>
          <a:lstStyle>
            <a:lvl1pPr marR="0"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53C96"/>
              </a:buClr>
              <a:buSzPts val="8000"/>
              <a:buFont typeface="Averia Serif Libre"/>
              <a:buNone/>
              <a:defRPr sz="8000" b="1" i="0" u="none" strike="noStrike" cap="none">
                <a:solidFill>
                  <a:srgbClr val="953C96"/>
                </a:solidFill>
                <a:latin typeface="Averia Serif Libre"/>
                <a:ea typeface="Averia Serif Libre"/>
                <a:cs typeface="Averia Serif Libre"/>
                <a:sym typeface="Averia Serif Libre"/>
              </a:defRPr>
            </a:lvl1pPr>
            <a:lvl2pPr marR="0"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200"/>
              <a:buFont typeface="Helvetica Neue"/>
              <a:buNone/>
              <a:defRPr sz="11200" b="0" i="0" u="none" strike="noStrike" cap="none">
                <a:solidFill>
                  <a:srgbClr val="000000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2pPr>
            <a:lvl3pPr marR="0"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200"/>
              <a:buFont typeface="Helvetica Neue"/>
              <a:buNone/>
              <a:defRPr sz="11200" b="0" i="0" u="none" strike="noStrike" cap="none">
                <a:solidFill>
                  <a:srgbClr val="000000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3pPr>
            <a:lvl4pPr marR="0"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200"/>
              <a:buFont typeface="Helvetica Neue"/>
              <a:buNone/>
              <a:defRPr sz="11200" b="0" i="0" u="none" strike="noStrike" cap="none">
                <a:solidFill>
                  <a:srgbClr val="000000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4pPr>
            <a:lvl5pPr marR="0"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200"/>
              <a:buFont typeface="Helvetica Neue"/>
              <a:buNone/>
              <a:defRPr sz="11200" b="0" i="0" u="none" strike="noStrike" cap="none">
                <a:solidFill>
                  <a:srgbClr val="000000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5pPr>
            <a:lvl6pPr marR="0"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200"/>
              <a:buFont typeface="Helvetica Neue"/>
              <a:buNone/>
              <a:defRPr sz="11200" b="0" i="0" u="none" strike="noStrike" cap="none">
                <a:solidFill>
                  <a:srgbClr val="000000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6pPr>
            <a:lvl7pPr marR="0"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200"/>
              <a:buFont typeface="Helvetica Neue"/>
              <a:buNone/>
              <a:defRPr sz="11200" b="0" i="0" u="none" strike="noStrike" cap="none">
                <a:solidFill>
                  <a:srgbClr val="000000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7pPr>
            <a:lvl8pPr marR="0"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200"/>
              <a:buFont typeface="Helvetica Neue"/>
              <a:buNone/>
              <a:defRPr sz="11200" b="0" i="0" u="none" strike="noStrike" cap="none">
                <a:solidFill>
                  <a:srgbClr val="000000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8pPr>
            <a:lvl9pPr marR="0"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200"/>
              <a:buFont typeface="Helvetica Neue"/>
              <a:buNone/>
              <a:defRPr sz="11200" b="0" i="0" u="none" strike="noStrike" cap="none">
                <a:solidFill>
                  <a:srgbClr val="000000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/>
          <p:nvPr/>
        </p:nvSpPr>
        <p:spPr>
          <a:xfrm>
            <a:off x="20742564" y="12306300"/>
            <a:ext cx="2505900" cy="35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000"/>
              <a:buFont typeface="Poppins"/>
              <a:buNone/>
            </a:pPr>
            <a:r>
              <a:rPr lang="en-US" sz="2000" b="0" i="0" u="none" strike="noStrike" cap="none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info@midcamp.org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" name="Google Shape;8;p1"/>
          <p:cNvSpPr txBox="1">
            <a:spLocks noGrp="1"/>
          </p:cNvSpPr>
          <p:nvPr>
            <p:ph type="body" idx="1"/>
          </p:nvPr>
        </p:nvSpPr>
        <p:spPr>
          <a:xfrm>
            <a:off x="1777950" y="3984175"/>
            <a:ext cx="20828100" cy="8223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t" anchorCtr="0">
            <a:noAutofit/>
          </a:bodyPr>
          <a:lstStyle>
            <a:lvl1pPr marL="457200" marR="0" lvl="0" indent="-2286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Helvetica Neue"/>
              <a:buNone/>
              <a:defRPr sz="6000" i="0" u="none" strike="noStrike" cap="none">
                <a:solidFill>
                  <a:srgbClr val="000000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1pPr>
            <a:lvl2pPr marL="914400" marR="0" lvl="1" indent="-2286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800"/>
              <a:buFont typeface="Helvetica Neue"/>
              <a:buNone/>
              <a:defRPr sz="4800" i="0" u="none" strike="noStrike" cap="none">
                <a:solidFill>
                  <a:srgbClr val="000000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2pPr>
            <a:lvl3pPr marL="1371600" marR="0" lvl="2" indent="-2286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Helvetica Neue"/>
              <a:buNone/>
              <a:defRPr sz="3600" i="0" u="none" strike="noStrike" cap="none">
                <a:solidFill>
                  <a:srgbClr val="000000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3pPr>
            <a:lvl4pPr marL="1828800" marR="0" lvl="3" indent="-2286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Helvetica Neue"/>
              <a:buNone/>
              <a:defRPr sz="3600" i="0" u="none" strike="noStrike" cap="none">
                <a:solidFill>
                  <a:srgbClr val="000000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4pPr>
            <a:lvl5pPr marL="2286000" marR="0" lvl="4" indent="-2286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Helvetica Neue"/>
              <a:buNone/>
              <a:defRPr sz="3600" i="0" u="none" strike="noStrike" cap="none">
                <a:solidFill>
                  <a:srgbClr val="000000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5pPr>
            <a:lvl6pPr marL="2743200" marR="0" lvl="5" indent="-2286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Helvetica Neue"/>
              <a:buNone/>
              <a:defRPr sz="3600" i="0" u="none" strike="noStrike" cap="none">
                <a:solidFill>
                  <a:srgbClr val="000000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6pPr>
            <a:lvl7pPr marL="3200400" marR="0" lvl="6" indent="-2286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Helvetica Neue"/>
              <a:buNone/>
              <a:defRPr sz="3600" i="0" u="none" strike="noStrike" cap="none">
                <a:solidFill>
                  <a:srgbClr val="000000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7pPr>
            <a:lvl8pPr marL="3657600" marR="0" lvl="7" indent="-2286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Helvetica Neue"/>
              <a:buNone/>
              <a:defRPr sz="3600" i="0" u="none" strike="noStrike" cap="none">
                <a:solidFill>
                  <a:srgbClr val="000000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8pPr>
            <a:lvl9pPr marL="4114800" marR="0" lvl="8" indent="-2286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Helvetica Neue"/>
              <a:buNone/>
              <a:defRPr sz="3600" i="0" u="none" strike="noStrike" cap="none">
                <a:solidFill>
                  <a:srgbClr val="000000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9pPr>
          </a:lstStyle>
          <a:p>
            <a:endParaRPr/>
          </a:p>
        </p:txBody>
      </p:sp>
      <p:sp>
        <p:nvSpPr>
          <p:cNvPr id="9" name="Google Shape;9;p1"/>
          <p:cNvSpPr txBox="1"/>
          <p:nvPr/>
        </p:nvSpPr>
        <p:spPr>
          <a:xfrm>
            <a:off x="1133856" y="12307824"/>
            <a:ext cx="1742400" cy="35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53C96"/>
              </a:buClr>
              <a:buSzPts val="2000"/>
              <a:buFont typeface="Poppins"/>
              <a:buNone/>
            </a:pPr>
            <a:r>
              <a:rPr lang="en-US" sz="2000" b="0" i="0" u="none" strike="noStrike" cap="none">
                <a:solidFill>
                  <a:srgbClr val="953C96"/>
                </a:solidFill>
                <a:latin typeface="Poppins"/>
                <a:ea typeface="Poppins"/>
                <a:cs typeface="Poppins"/>
                <a:sym typeface="Poppins"/>
              </a:rPr>
              <a:t>midcamp.org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" name="Google Shape;10;p1"/>
          <p:cNvSpPr txBox="1"/>
          <p:nvPr/>
        </p:nvSpPr>
        <p:spPr>
          <a:xfrm>
            <a:off x="20738592" y="12307824"/>
            <a:ext cx="3208200" cy="35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53C96"/>
              </a:buClr>
              <a:buSzPts val="2000"/>
              <a:buFont typeface="Poppins"/>
              <a:buNone/>
            </a:pPr>
            <a:r>
              <a:rPr lang="en-US" sz="2000">
                <a:solidFill>
                  <a:srgbClr val="953C96"/>
                </a:solidFill>
                <a:latin typeface="Poppins"/>
                <a:ea typeface="Poppins"/>
                <a:cs typeface="Poppins"/>
                <a:sym typeface="Poppins"/>
              </a:rPr>
              <a:t>MidCamp 2026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  <p:sldLayoutId id="2147483661" r:id="rId14"/>
    <p:sldLayoutId id="2147483662" r:id="rId15"/>
    <p:sldLayoutId id="2147483663" r:id="rId16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jpg"/><Relationship Id="rId1" Type="http://schemas.openxmlformats.org/officeDocument/2006/relationships/slideLayout" Target="../slideLayouts/slideLayout1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jp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jpg"/><Relationship Id="rId1" Type="http://schemas.openxmlformats.org/officeDocument/2006/relationships/slideLayout" Target="../slideLayouts/slideLayout1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jpg"/><Relationship Id="rId1" Type="http://schemas.openxmlformats.org/officeDocument/2006/relationships/slideLayout" Target="../slideLayouts/slideLayout4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jpeg"/><Relationship Id="rId1" Type="http://schemas.openxmlformats.org/officeDocument/2006/relationships/slideLayout" Target="../slideLayouts/slideLayout4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jpg"/><Relationship Id="rId1" Type="http://schemas.openxmlformats.org/officeDocument/2006/relationships/slideLayout" Target="../slideLayouts/slideLayout4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breaktech.com/post/testing-is-hard-but-totally-worth-it" TargetMode="External"/><Relationship Id="rId2" Type="http://schemas.openxmlformats.org/officeDocument/2006/relationships/hyperlink" Target="https://drupal.org/project/dtt" TargetMode="External"/><Relationship Id="rId1" Type="http://schemas.openxmlformats.org/officeDocument/2006/relationships/slideLayout" Target="../slideLayouts/slideLayout4.xml"/><Relationship Id="rId4" Type="http://schemas.openxmlformats.org/officeDocument/2006/relationships/hyperlink" Target="https://github.com/jonathanfranks/dtt2026" TargetMode="Externa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14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15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jpg"/><Relationship Id="rId1" Type="http://schemas.openxmlformats.org/officeDocument/2006/relationships/slideLayout" Target="../slideLayouts/slideLayout14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5"/>
          <p:cNvSpPr txBox="1"/>
          <p:nvPr/>
        </p:nvSpPr>
        <p:spPr>
          <a:xfrm>
            <a:off x="13200775" y="2043200"/>
            <a:ext cx="10162500" cy="5809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0" b="1" dirty="0">
                <a:solidFill>
                  <a:srgbClr val="953C96"/>
                </a:solidFill>
                <a:latin typeface="Averia Serif Libre"/>
                <a:ea typeface="Averia Serif Libre"/>
                <a:cs typeface="Averia Serif Libre"/>
                <a:sym typeface="Averia Serif Libre"/>
              </a:rPr>
              <a:t>Get better at testing using Drupal Test Traits!</a:t>
            </a:r>
          </a:p>
        </p:txBody>
      </p:sp>
      <p:pic>
        <p:nvPicPr>
          <p:cNvPr id="233" name="Google Shape;233;p35"/>
          <p:cNvPicPr preferRelativeResize="0"/>
          <p:nvPr/>
        </p:nvPicPr>
        <p:blipFill rotWithShape="1">
          <a:blip r:embed="rId3"/>
          <a:srcRect/>
          <a:stretch/>
        </p:blipFill>
        <p:spPr>
          <a:xfrm>
            <a:off x="11132325" y="7625725"/>
            <a:ext cx="4076100" cy="4076100"/>
          </a:xfrm>
          <a:prstGeom prst="ellipse">
            <a:avLst/>
          </a:prstGeom>
          <a:noFill/>
          <a:ln>
            <a:noFill/>
          </a:ln>
        </p:spPr>
      </p:pic>
      <p:sp>
        <p:nvSpPr>
          <p:cNvPr id="234" name="Google Shape;234;p35"/>
          <p:cNvSpPr txBox="1"/>
          <p:nvPr/>
        </p:nvSpPr>
        <p:spPr>
          <a:xfrm>
            <a:off x="15634824" y="8074050"/>
            <a:ext cx="8479817" cy="38779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800" b="1" dirty="0">
                <a:latin typeface="Poppins"/>
                <a:ea typeface="Poppins"/>
                <a:cs typeface="Poppins"/>
                <a:sym typeface="Poppins"/>
              </a:rPr>
              <a:t>Jonathan “Jack” Franks</a:t>
            </a:r>
            <a:endParaRPr sz="4800" b="1" dirty="0">
              <a:latin typeface="Poppins"/>
              <a:ea typeface="Poppins"/>
              <a:cs typeface="Poppins"/>
              <a:sym typeface="Poppin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800" dirty="0">
                <a:latin typeface="Poppins"/>
                <a:ea typeface="Poppins"/>
                <a:cs typeface="Poppins"/>
                <a:sym typeface="Poppins"/>
              </a:rPr>
              <a:t>Principal Software Engineer</a:t>
            </a:r>
            <a:endParaRPr sz="4800" dirty="0">
              <a:latin typeface="Poppins"/>
              <a:ea typeface="Poppins"/>
              <a:cs typeface="Poppins"/>
              <a:sym typeface="Poppin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800" dirty="0">
                <a:latin typeface="Poppins"/>
                <a:ea typeface="Poppins"/>
                <a:cs typeface="Poppins"/>
                <a:sym typeface="Poppins"/>
              </a:rPr>
              <a:t>at Breakthrough Technologies</a:t>
            </a:r>
            <a:endParaRPr sz="4800" dirty="0">
              <a:latin typeface="Poppins"/>
              <a:ea typeface="Poppins"/>
              <a:cs typeface="Poppins"/>
              <a:sym typeface="Poppin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800" dirty="0" err="1">
                <a:latin typeface="Poppins"/>
                <a:ea typeface="Poppins"/>
                <a:cs typeface="Poppins"/>
                <a:sym typeface="Poppins"/>
              </a:rPr>
              <a:t>d.o</a:t>
            </a:r>
            <a:r>
              <a:rPr lang="en-US" sz="4800" dirty="0">
                <a:latin typeface="Poppins"/>
                <a:ea typeface="Poppins"/>
                <a:cs typeface="Poppins"/>
                <a:sym typeface="Poppins"/>
              </a:rPr>
              <a:t>: @</a:t>
            </a:r>
            <a:r>
              <a:rPr lang="en-US" sz="4800" dirty="0" err="1">
                <a:latin typeface="Poppins"/>
                <a:ea typeface="Poppins"/>
                <a:cs typeface="Poppins"/>
                <a:sym typeface="Poppins"/>
              </a:rPr>
              <a:t>franksj</a:t>
            </a:r>
            <a:endParaRPr sz="4800" dirty="0"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235" name="Google Shape;235;p35"/>
          <p:cNvSpPr txBox="1"/>
          <p:nvPr/>
        </p:nvSpPr>
        <p:spPr>
          <a:xfrm>
            <a:off x="17269375" y="1140025"/>
            <a:ext cx="5979000" cy="41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Poppins"/>
              <a:buNone/>
            </a:pPr>
            <a:r>
              <a:rPr lang="en-US" sz="2400" b="1" i="0" u="none" strike="noStrike" cap="none">
                <a:solidFill>
                  <a:srgbClr val="652966"/>
                </a:solidFill>
                <a:latin typeface="Poppins"/>
                <a:ea typeface="Poppins"/>
                <a:cs typeface="Poppins"/>
                <a:sym typeface="Poppins"/>
              </a:rPr>
              <a:t>Behavior Testing with DTT</a:t>
            </a:r>
            <a:r>
              <a:rPr lang="en-US" sz="2400" b="0" i="0" u="none" strike="noStrike" cap="none">
                <a:solidFill>
                  <a:srgbClr val="652966"/>
                </a:solidFill>
                <a:latin typeface="Poppins"/>
                <a:ea typeface="Poppins"/>
                <a:cs typeface="Poppins"/>
                <a:sym typeface="Poppins"/>
              </a:rPr>
              <a:t>   |   </a:t>
            </a:r>
            <a:r>
              <a:rPr lang="en-US" sz="2400">
                <a:solidFill>
                  <a:srgbClr val="652966"/>
                </a:solidFill>
                <a:latin typeface="Poppins"/>
                <a:ea typeface="Poppins"/>
                <a:cs typeface="Poppins"/>
                <a:sym typeface="Poppins"/>
              </a:rPr>
              <a:t>May</a:t>
            </a:r>
            <a:r>
              <a:rPr lang="en-US" sz="2400" b="0" i="0" u="none" strike="noStrike" cap="none">
                <a:solidFill>
                  <a:srgbClr val="652966"/>
                </a:solidFill>
                <a:latin typeface="Poppins"/>
                <a:ea typeface="Poppins"/>
                <a:cs typeface="Poppins"/>
                <a:sym typeface="Poppins"/>
              </a:rPr>
              <a:t> </a:t>
            </a:r>
            <a:r>
              <a:rPr lang="en-US" sz="2400">
                <a:solidFill>
                  <a:srgbClr val="652966"/>
                </a:solidFill>
                <a:latin typeface="Poppins"/>
                <a:ea typeface="Poppins"/>
                <a:cs typeface="Poppins"/>
                <a:sym typeface="Poppins"/>
              </a:rPr>
              <a:t>12</a:t>
            </a:r>
            <a:r>
              <a:rPr lang="en-US" sz="2400" b="0" i="0" u="none" strike="noStrike" cap="none">
                <a:solidFill>
                  <a:srgbClr val="652966"/>
                </a:solidFill>
                <a:latin typeface="Poppins"/>
                <a:ea typeface="Poppins"/>
                <a:cs typeface="Poppins"/>
                <a:sym typeface="Poppins"/>
              </a:rPr>
              <a:t>, 202</a:t>
            </a:r>
            <a:r>
              <a:rPr lang="en-US" sz="2400">
                <a:solidFill>
                  <a:srgbClr val="652966"/>
                </a:solidFill>
                <a:latin typeface="Poppins"/>
                <a:ea typeface="Poppins"/>
                <a:cs typeface="Poppins"/>
                <a:sym typeface="Poppins"/>
              </a:rPr>
              <a:t>6</a:t>
            </a:r>
            <a:endParaRPr sz="1400" b="0" i="0" u="none" strike="noStrike" cap="none">
              <a:solidFill>
                <a:srgbClr val="652966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1" name="Title"/>
          <p:cNvSpPr txBox="1">
            <a:spLocks noGrp="1"/>
          </p:cNvSpPr>
          <p:nvPr>
            <p:ph type="title"/>
          </p:nvPr>
        </p:nvSpPr>
        <p:spPr>
          <a:xfrm>
            <a:off x="1616850" y="1197425"/>
            <a:ext cx="21201300" cy="2035800"/>
          </a:xfrm>
          <a:prstGeom prst="rect">
            <a:avLst/>
          </a:prstGeom>
        </p:spPr>
        <p:txBody>
          <a:bodyPr spcFirstLastPara="1" wrap="square" lIns="50800" tIns="50800" rIns="50800" bIns="508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Show of hands.</a:t>
            </a:r>
            <a:endParaRPr/>
          </a:p>
        </p:txBody>
      </p:sp>
      <p:sp>
        <p:nvSpPr>
          <p:cNvPr id="952" name="Body"/>
          <p:cNvSpPr txBox="1">
            <a:spLocks noGrp="1"/>
          </p:cNvSpPr>
          <p:nvPr>
            <p:ph type="body" idx="1"/>
          </p:nvPr>
        </p:nvSpPr>
        <p:spPr>
          <a:xfrm>
            <a:off x="1616700" y="3755725"/>
            <a:ext cx="21201300" cy="8520000"/>
          </a:xfrm>
          <a:prstGeom prst="rect">
            <a:avLst/>
          </a:prstGeom>
        </p:spPr>
        <p:txBody>
          <a:bodyPr spcFirstLastPara="1" wrap="square" lIns="50800" tIns="50800" rIns="50800" bIns="50800" anchor="t" anchorCtr="0">
            <a:noAutofit/>
          </a:bodyPr>
          <a:lstStyle/>
          <a:p>
            <a:pPr marL="457200" lvl="0" indent="-609600" algn="l" rtl="0">
              <a:spcBef>
                <a:spcPts val="0"/>
              </a:spcBef>
              <a:spcAft>
                <a:spcPts val="900"/>
              </a:spcAft>
              <a:buSzPts val="6000"/>
              <a:buChar char="•"/>
            </a:pPr>
            <a:r>
              <a:rPr lang="en-US" dirty="0"/>
              <a:t>Who’s </a:t>
            </a:r>
            <a:r>
              <a:rPr lang="en-US" b="1" dirty="0"/>
              <a:t>new to automated testing</a:t>
            </a:r>
            <a:r>
              <a:rPr lang="en-US" dirty="0"/>
              <a:t> and needs to be convinced this is a good idea?</a:t>
            </a:r>
          </a:p>
          <a:p>
            <a:pPr marL="457200" lvl="0" indent="-609600" algn="l" rtl="0">
              <a:spcBef>
                <a:spcPts val="0"/>
              </a:spcBef>
              <a:spcAft>
                <a:spcPts val="900"/>
              </a:spcAft>
              <a:buSzPts val="6000"/>
              <a:buChar char="•"/>
            </a:pPr>
            <a:r>
              <a:rPr lang="en-US" dirty="0"/>
              <a:t>Who thinks it’s a great idea but needs to </a:t>
            </a:r>
            <a:r>
              <a:rPr lang="en-US" b="1" dirty="0"/>
              <a:t>convince a boss or client</a:t>
            </a:r>
            <a:r>
              <a:rPr lang="en-US" dirty="0"/>
              <a:t>?</a:t>
            </a:r>
          </a:p>
          <a:p>
            <a:pPr marL="457200" lvl="0" indent="-609600" algn="l" rtl="0">
              <a:spcBef>
                <a:spcPts val="0"/>
              </a:spcBef>
              <a:spcAft>
                <a:spcPts val="0"/>
              </a:spcAft>
              <a:buSzPts val="6000"/>
              <a:buChar char="•"/>
            </a:pPr>
            <a:r>
              <a:rPr lang="en-US" dirty="0"/>
              <a:t>Who thinks it’s a great idea but </a:t>
            </a:r>
            <a:r>
              <a:rPr lang="en-US" b="1" dirty="0"/>
              <a:t>doesn’t know how</a:t>
            </a:r>
            <a:r>
              <a:rPr lang="en-US" dirty="0"/>
              <a:t>?</a:t>
            </a:r>
            <a:endParaRPr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31"/>
          <p:cNvSpPr/>
          <p:nvPr/>
        </p:nvSpPr>
        <p:spPr>
          <a:xfrm>
            <a:off x="0" y="0"/>
            <a:ext cx="24384000" cy="13716000"/>
          </a:xfrm>
          <a:prstGeom prst="rect">
            <a:avLst/>
          </a:prstGeom>
          <a:solidFill>
            <a:srgbClr val="652966"/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Helvetica Neue"/>
              <a:buNone/>
            </a:pPr>
            <a:endParaRPr sz="3200" b="0" i="0" u="none" strike="noStrike" cap="none">
              <a:solidFill>
                <a:srgbClr val="FFFFFF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sp>
        <p:nvSpPr>
          <p:cNvPr id="200" name="Google Shape;200;p31"/>
          <p:cNvSpPr/>
          <p:nvPr/>
        </p:nvSpPr>
        <p:spPr>
          <a:xfrm>
            <a:off x="0" y="0"/>
            <a:ext cx="24384000" cy="13716000"/>
          </a:xfrm>
          <a:prstGeom prst="rect">
            <a:avLst/>
          </a:prstGeom>
          <a:blipFill rotWithShape="1">
            <a:blip r:embed="rId2">
              <a:alphaModFix amt="60000"/>
            </a:blip>
            <a:stretch>
              <a:fillRect/>
            </a:stretch>
          </a:blip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Helvetica Neue"/>
              <a:buNone/>
            </a:pPr>
            <a:endParaRPr sz="3200" b="0" i="0" u="none" strike="noStrike" cap="none">
              <a:solidFill>
                <a:srgbClr val="FFFFFF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sp>
        <p:nvSpPr>
          <p:cNvPr id="201" name="Google Shape;201;p31"/>
          <p:cNvSpPr txBox="1"/>
          <p:nvPr/>
        </p:nvSpPr>
        <p:spPr>
          <a:xfrm>
            <a:off x="3935056" y="3860803"/>
            <a:ext cx="16513800" cy="599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000"/>
              <a:buFont typeface="Poppins"/>
              <a:buNone/>
            </a:pPr>
            <a:r>
              <a:rPr lang="en-US" sz="8000" b="1" i="0" u="none" strike="noStrike" cap="none" dirty="0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It is 3:47 in the morning. You are awake. It has been 12 hours since you deployed to QA.</a:t>
            </a: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000"/>
              <a:buFont typeface="Poppins"/>
              <a:buNone/>
            </a:pPr>
            <a:endParaRPr lang="en-US" sz="8000" b="1" i="0" u="none" strike="noStrike" cap="none" dirty="0">
              <a:solidFill>
                <a:srgbClr val="FFFFFF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000"/>
              <a:buFont typeface="Poppins"/>
              <a:buNone/>
            </a:pPr>
            <a:r>
              <a:rPr lang="en-US" sz="8000" b="1" dirty="0">
                <a:solidFill>
                  <a:srgbClr val="FFFFFF"/>
                </a:solidFill>
                <a:latin typeface="Poppins"/>
                <a:cs typeface="Poppins"/>
                <a:sym typeface="Poppins"/>
              </a:rPr>
              <a:t>Does your entire site still work?</a:t>
            </a:r>
            <a:endParaRPr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26"/>
          <p:cNvSpPr txBox="1">
            <a:spLocks noGrp="1"/>
          </p:cNvSpPr>
          <p:nvPr>
            <p:ph type="title"/>
          </p:nvPr>
        </p:nvSpPr>
        <p:spPr>
          <a:xfrm>
            <a:off x="2728275" y="387985"/>
            <a:ext cx="18501300" cy="8855400"/>
          </a:xfrm>
          <a:prstGeom prst="rect">
            <a:avLst/>
          </a:prstGeom>
        </p:spPr>
        <p:txBody>
          <a:bodyPr spcFirstLastPara="1" wrap="square" lIns="50800" tIns="50800" rIns="50800" bIns="508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rgbClr val="953C96"/>
              </a:buClr>
              <a:buSzPts val="8000"/>
              <a:buFont typeface="Poppins"/>
              <a:buNone/>
            </a:pPr>
            <a:r>
              <a:rPr lang="en-US" dirty="0"/>
              <a:t>How do I convince my client to pay for automated testing?</a:t>
            </a:r>
            <a:endParaRPr dirty="0"/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pic>
        <p:nvPicPr>
          <p:cNvPr id="166" name="Cat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28925" y="5930281"/>
            <a:ext cx="9500000" cy="7126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5151897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3"/>
          <p:cNvSpPr/>
          <p:nvPr/>
        </p:nvSpPr>
        <p:spPr>
          <a:xfrm>
            <a:off x="0" y="0"/>
            <a:ext cx="24384000" cy="13716000"/>
          </a:xfrm>
          <a:prstGeom prst="rect">
            <a:avLst/>
          </a:prstGeom>
          <a:solidFill>
            <a:srgbClr val="FFEB36"/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Helvetica Neue"/>
              <a:buNone/>
            </a:pPr>
            <a:endParaRPr sz="3200" b="0" i="0" u="none" strike="noStrike" cap="none">
              <a:solidFill>
                <a:srgbClr val="FFFFFF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sp>
        <p:nvSpPr>
          <p:cNvPr id="218" name="Google Shape;218;p33"/>
          <p:cNvSpPr/>
          <p:nvPr/>
        </p:nvSpPr>
        <p:spPr>
          <a:xfrm>
            <a:off x="6675" y="0"/>
            <a:ext cx="24384000" cy="13716000"/>
          </a:xfrm>
          <a:prstGeom prst="rect">
            <a:avLst/>
          </a:prstGeom>
          <a:blipFill rotWithShape="1">
            <a:blip r:embed="rId2">
              <a:alphaModFix amt="25000"/>
            </a:blip>
            <a:stretch>
              <a:fillRect/>
            </a:stretch>
          </a:blip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Helvetica Neue"/>
              <a:buNone/>
            </a:pPr>
            <a:endParaRPr sz="3200" b="0" i="0" u="none" strike="noStrike" cap="none">
              <a:solidFill>
                <a:srgbClr val="FFFFFF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sp>
        <p:nvSpPr>
          <p:cNvPr id="219" name="Google Shape;219;p33"/>
          <p:cNvSpPr txBox="1"/>
          <p:nvPr/>
        </p:nvSpPr>
        <p:spPr>
          <a:xfrm>
            <a:off x="3935056" y="3860803"/>
            <a:ext cx="16513800" cy="599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000"/>
              <a:buFont typeface="Poppins"/>
              <a:buNone/>
            </a:pPr>
            <a:r>
              <a:rPr lang="en-US" sz="8000" b="1" i="0" u="none" strike="noStrike" cap="none">
                <a:solidFill>
                  <a:srgbClr val="1F7317"/>
                </a:solidFill>
                <a:latin typeface="Poppins"/>
                <a:ea typeface="Poppins"/>
                <a:cs typeface="Poppins"/>
                <a:sym typeface="Poppins"/>
              </a:rPr>
              <a:t>You don’t.</a:t>
            </a:r>
            <a:endParaRPr sz="1400" b="0" i="0" u="none" strike="noStrike" cap="none">
              <a:solidFill>
                <a:srgbClr val="1F7317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1" name="Google Shape;221;p33"/>
          <p:cNvSpPr txBox="1"/>
          <p:nvPr/>
        </p:nvSpPr>
        <p:spPr>
          <a:xfrm>
            <a:off x="508000" y="508000"/>
            <a:ext cx="5154000" cy="76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200"/>
              <a:buFont typeface="Helvetica Neue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65752953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" name="Google Shape;256;p38"/>
          <p:cNvSpPr txBox="1">
            <a:spLocks noGrp="1"/>
          </p:cNvSpPr>
          <p:nvPr>
            <p:ph type="ctrTitle"/>
          </p:nvPr>
        </p:nvSpPr>
        <p:spPr>
          <a:xfrm>
            <a:off x="3048000" y="2854326"/>
            <a:ext cx="18288000" cy="47751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Helvetica Neue"/>
              <a:buNone/>
            </a:pPr>
            <a:endParaRPr sz="6000" b="0">
              <a:solidFill>
                <a:srgbClr val="000000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1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800"/>
              <a:buFont typeface="Helvetica Neue"/>
              <a:buNone/>
            </a:pPr>
            <a:endParaRPr sz="4800">
              <a:solidFill>
                <a:srgbClr val="000000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2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Helvetica Neue"/>
              <a:buNone/>
            </a:pPr>
            <a:endParaRPr sz="3600">
              <a:solidFill>
                <a:srgbClr val="000000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3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Helvetica Neue"/>
              <a:buNone/>
            </a:pPr>
            <a:endParaRPr sz="3600">
              <a:solidFill>
                <a:srgbClr val="000000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4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Helvetica Neue"/>
              <a:buNone/>
            </a:pPr>
            <a:endParaRPr sz="3600">
              <a:solidFill>
                <a:srgbClr val="000000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5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Helvetica Neue"/>
              <a:buNone/>
            </a:pPr>
            <a:endParaRPr sz="3600">
              <a:solidFill>
                <a:srgbClr val="000000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6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Helvetica Neue"/>
              <a:buNone/>
            </a:pPr>
            <a:endParaRPr sz="3600">
              <a:solidFill>
                <a:srgbClr val="000000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7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Helvetica Neue"/>
              <a:buNone/>
            </a:pPr>
            <a:endParaRPr sz="3600">
              <a:solidFill>
                <a:srgbClr val="000000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8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Helvetica Neue"/>
              <a:buNone/>
            </a:pPr>
            <a:endParaRPr sz="3600">
              <a:solidFill>
                <a:srgbClr val="000000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0"/>
              <a:t>TESTS ARE PART</a:t>
            </a:r>
            <a:endParaRPr sz="10000"/>
          </a:p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0"/>
              <a:t>OF THE WORK.</a:t>
            </a:r>
            <a:endParaRPr/>
          </a:p>
        </p:txBody>
      </p:sp>
    </p:spTree>
    <p:extLst>
      <p:ext uri="{BB962C8B-B14F-4D97-AF65-F5344CB8AC3E}">
        <p14:creationId xmlns:p14="http://schemas.microsoft.com/office/powerpoint/2010/main" val="197073731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Google Shape;152;p24"/>
          <p:cNvSpPr txBox="1">
            <a:spLocks noGrp="1"/>
          </p:cNvSpPr>
          <p:nvPr>
            <p:ph type="title"/>
          </p:nvPr>
        </p:nvSpPr>
        <p:spPr>
          <a:xfrm>
            <a:off x="1616850" y="1197425"/>
            <a:ext cx="21201300" cy="2035800"/>
          </a:xfrm>
          <a:prstGeom prst="rect">
            <a:avLst/>
          </a:prstGeom>
        </p:spPr>
        <p:txBody>
          <a:bodyPr spcFirstLastPara="1" wrap="square" lIns="50800" tIns="50800" rIns="50800" bIns="508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Things you don’t itemize on a quote</a:t>
            </a:r>
            <a:endParaRPr/>
          </a:p>
        </p:txBody>
      </p:sp>
      <p:sp>
        <p:nvSpPr>
          <p:cNvPr id="153" name="Google Shape;153;p24"/>
          <p:cNvSpPr txBox="1">
            <a:spLocks noGrp="1"/>
          </p:cNvSpPr>
          <p:nvPr>
            <p:ph type="body" idx="1"/>
          </p:nvPr>
        </p:nvSpPr>
        <p:spPr>
          <a:xfrm>
            <a:off x="1616700" y="3755725"/>
            <a:ext cx="21201300" cy="8520000"/>
          </a:xfrm>
          <a:prstGeom prst="rect">
            <a:avLst/>
          </a:prstGeom>
        </p:spPr>
        <p:txBody>
          <a:bodyPr spcFirstLastPara="1" wrap="square" lIns="50800" tIns="50800" rIns="50800" bIns="50800" anchor="t" anchorCtr="0">
            <a:noAutofit/>
          </a:bodyPr>
          <a:lstStyle/>
          <a:p>
            <a:pPr marL="457200" lvl="0" indent="-609600" algn="l" rtl="0">
              <a:spcBef>
                <a:spcPts val="0"/>
              </a:spcBef>
              <a:spcAft>
                <a:spcPts val="0"/>
              </a:spcAft>
              <a:buSzPts val="6000"/>
              <a:buChar char="•"/>
            </a:pPr>
            <a:r>
              <a:rPr lang="en-US" dirty="0"/>
              <a:t>Composer. </a:t>
            </a:r>
          </a:p>
          <a:p>
            <a:pPr marL="457200" lvl="0" indent="-609600" algn="l" rtl="0">
              <a:spcBef>
                <a:spcPts val="0"/>
              </a:spcBef>
              <a:spcAft>
                <a:spcPts val="0"/>
              </a:spcAft>
              <a:buSzPts val="6000"/>
              <a:buChar char="•"/>
            </a:pPr>
            <a:r>
              <a:rPr lang="en-US" dirty="0"/>
              <a:t>Version control. </a:t>
            </a:r>
          </a:p>
          <a:p>
            <a:pPr marL="457200" lvl="0" indent="-609600" algn="l" rtl="0">
              <a:spcBef>
                <a:spcPts val="0"/>
              </a:spcBef>
              <a:spcAft>
                <a:spcPts val="0"/>
              </a:spcAft>
              <a:buSzPts val="6000"/>
              <a:buChar char="•"/>
            </a:pPr>
            <a:r>
              <a:rPr lang="en-US" dirty="0"/>
              <a:t>Code review.</a:t>
            </a:r>
            <a:endParaRPr dirty="0"/>
          </a:p>
          <a:p>
            <a:pPr marL="457200" lvl="0" indent="-609600" algn="l" rtl="0">
              <a:spcBef>
                <a:spcPts val="0"/>
              </a:spcBef>
              <a:spcAft>
                <a:spcPts val="0"/>
              </a:spcAft>
              <a:buSzPts val="6000"/>
              <a:buChar char="•"/>
            </a:pPr>
            <a:r>
              <a:rPr lang="en-US" dirty="0"/>
              <a:t>Configuration management. </a:t>
            </a:r>
          </a:p>
          <a:p>
            <a:pPr marL="457200" lvl="0" indent="-609600" algn="l" rtl="0">
              <a:spcBef>
                <a:spcPts val="0"/>
              </a:spcBef>
              <a:spcAft>
                <a:spcPts val="0"/>
              </a:spcAft>
              <a:buSzPts val="6000"/>
              <a:buChar char="•"/>
            </a:pPr>
            <a:r>
              <a:rPr lang="en-US" dirty="0"/>
              <a:t>Local dev environments. </a:t>
            </a:r>
          </a:p>
          <a:p>
            <a:pPr marL="457200" lvl="0" indent="-609600" algn="l" rtl="0">
              <a:spcBef>
                <a:spcPts val="0"/>
              </a:spcBef>
              <a:spcAft>
                <a:spcPts val="0"/>
              </a:spcAft>
              <a:buSzPts val="6000"/>
              <a:buChar char="•"/>
            </a:pPr>
            <a:r>
              <a:rPr lang="en-US" dirty="0"/>
              <a:t>Linting. </a:t>
            </a:r>
          </a:p>
          <a:p>
            <a:pPr marL="457200" lvl="0" indent="-609600" algn="l" rtl="0">
              <a:spcBef>
                <a:spcPts val="0"/>
              </a:spcBef>
              <a:spcAft>
                <a:spcPts val="0"/>
              </a:spcAft>
              <a:buSzPts val="6000"/>
              <a:buChar char="•"/>
            </a:pPr>
            <a:r>
              <a:rPr lang="en-US" dirty="0"/>
              <a:t>…Automated tests?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07629139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" name="Google Shape;256;p38"/>
          <p:cNvSpPr txBox="1">
            <a:spLocks noGrp="1"/>
          </p:cNvSpPr>
          <p:nvPr>
            <p:ph type="ctrTitle"/>
          </p:nvPr>
        </p:nvSpPr>
        <p:spPr>
          <a:xfrm>
            <a:off x="3048000" y="2854326"/>
            <a:ext cx="18288000" cy="47751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Helvetica Neue"/>
              <a:buNone/>
            </a:pPr>
            <a:endParaRPr sz="6000" b="0">
              <a:solidFill>
                <a:srgbClr val="000000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1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800"/>
              <a:buFont typeface="Helvetica Neue"/>
              <a:buNone/>
            </a:pPr>
            <a:endParaRPr sz="4800">
              <a:solidFill>
                <a:srgbClr val="000000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2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Helvetica Neue"/>
              <a:buNone/>
            </a:pPr>
            <a:endParaRPr sz="3600">
              <a:solidFill>
                <a:srgbClr val="000000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3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Helvetica Neue"/>
              <a:buNone/>
            </a:pPr>
            <a:endParaRPr sz="3600">
              <a:solidFill>
                <a:srgbClr val="000000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4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Helvetica Neue"/>
              <a:buNone/>
            </a:pPr>
            <a:endParaRPr sz="3600">
              <a:solidFill>
                <a:srgbClr val="000000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5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Helvetica Neue"/>
              <a:buNone/>
            </a:pPr>
            <a:endParaRPr sz="3600">
              <a:solidFill>
                <a:srgbClr val="000000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6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Helvetica Neue"/>
              <a:buNone/>
            </a:pPr>
            <a:endParaRPr sz="3600">
              <a:solidFill>
                <a:srgbClr val="000000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7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Helvetica Neue"/>
              <a:buNone/>
            </a:pPr>
            <a:endParaRPr sz="3600">
              <a:solidFill>
                <a:srgbClr val="000000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8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Helvetica Neue"/>
              <a:buNone/>
            </a:pPr>
            <a:endParaRPr sz="3600">
              <a:solidFill>
                <a:srgbClr val="000000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0"/>
              <a:t>WHAT TO TEST.</a:t>
            </a:r>
            <a:endParaRPr sz="10000"/>
          </a:p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0"/>
              <a:t>WHAT TO SKIP.</a:t>
            </a:r>
            <a:endParaRPr/>
          </a:p>
        </p:txBody>
      </p:sp>
      <p:sp>
        <p:nvSpPr>
          <p:cNvPr id="257" name="Google Shape;257;p38"/>
          <p:cNvSpPr txBox="1">
            <a:spLocks noGrp="1"/>
          </p:cNvSpPr>
          <p:nvPr>
            <p:ph type="subTitle" idx="1"/>
          </p:nvPr>
        </p:nvSpPr>
        <p:spPr>
          <a:xfrm>
            <a:off x="3048000" y="8806085"/>
            <a:ext cx="18288000" cy="26904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ctr" rtl="0">
              <a:spcBef>
                <a:spcPts val="2000"/>
              </a:spcBef>
              <a:spcAft>
                <a:spcPts val="0"/>
              </a:spcAft>
              <a:buNone/>
            </a:pPr>
            <a:r>
              <a:rPr lang="en-US" i="1" dirty="0"/>
              <a:t>Test what your client paid you to build.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25"/>
          <p:cNvSpPr txBox="1">
            <a:spLocks noGrp="1"/>
          </p:cNvSpPr>
          <p:nvPr>
            <p:ph type="title"/>
          </p:nvPr>
        </p:nvSpPr>
        <p:spPr>
          <a:xfrm>
            <a:off x="1669100" y="1197425"/>
            <a:ext cx="20959500" cy="2558400"/>
          </a:xfrm>
          <a:prstGeom prst="rect">
            <a:avLst/>
          </a:prstGeom>
        </p:spPr>
        <p:txBody>
          <a:bodyPr spcFirstLastPara="1" wrap="square" lIns="50800" tIns="50800" rIns="50800" bIns="508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TEST … OR DON’T BOTHER?</a:t>
            </a:r>
            <a:endParaRPr dirty="0"/>
          </a:p>
        </p:txBody>
      </p:sp>
      <p:sp>
        <p:nvSpPr>
          <p:cNvPr id="159" name="Google Shape;159;p25"/>
          <p:cNvSpPr txBox="1">
            <a:spLocks noGrp="1"/>
          </p:cNvSpPr>
          <p:nvPr>
            <p:ph type="body" idx="2"/>
          </p:nvPr>
        </p:nvSpPr>
        <p:spPr>
          <a:xfrm>
            <a:off x="1565900" y="4113725"/>
            <a:ext cx="10058400" cy="8162100"/>
          </a:xfrm>
          <a:prstGeom prst="rect">
            <a:avLst/>
          </a:prstGeom>
        </p:spPr>
        <p:txBody>
          <a:bodyPr spcFirstLastPara="1" wrap="square" lIns="50800" tIns="50800" rIns="50800" bIns="508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TEST: 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The user story, exactly. 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Custom logic you wrote. 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Unhappy paths. 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Anything you have ever fixed twice.    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dirty="0"/>
          </a:p>
        </p:txBody>
      </p:sp>
      <p:sp>
        <p:nvSpPr>
          <p:cNvPr id="2" name="Google Shape;159;p25">
            <a:extLst>
              <a:ext uri="{FF2B5EF4-FFF2-40B4-BE49-F238E27FC236}">
                <a16:creationId xmlns:a16="http://schemas.microsoft.com/office/drawing/2014/main" id="{88E4D94D-A50A-4EE3-64AC-A20E65D45225}"/>
              </a:ext>
            </a:extLst>
          </p:cNvPr>
          <p:cNvSpPr txBox="1">
            <a:spLocks/>
          </p:cNvSpPr>
          <p:nvPr/>
        </p:nvSpPr>
        <p:spPr>
          <a:xfrm>
            <a:off x="12192000" y="4356475"/>
            <a:ext cx="10058400" cy="8162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800"/>
              <a:buFont typeface="Helvetica Neue"/>
              <a:buNone/>
              <a:defRPr sz="4800" b="0" i="0" u="none" strike="noStrike" cap="none">
                <a:solidFill>
                  <a:srgbClr val="000000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1pPr>
            <a:lvl2pPr marL="914400" marR="0" lvl="1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Helvetica Neue"/>
              <a:buNone/>
              <a:defRPr sz="3600" b="0" i="0" u="none" strike="noStrike" cap="none">
                <a:solidFill>
                  <a:srgbClr val="000000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2pPr>
            <a:lvl3pPr marL="1371600" marR="0" lvl="2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000"/>
              <a:buFont typeface="Helvetica Neue"/>
              <a:buNone/>
              <a:defRPr sz="3000" b="0" i="0" u="none" strike="noStrike" cap="none">
                <a:solidFill>
                  <a:srgbClr val="000000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3pPr>
            <a:lvl4pPr marL="1828800" marR="0" lvl="3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000"/>
              <a:buFont typeface="Helvetica Neue"/>
              <a:buNone/>
              <a:defRPr sz="3000" b="0" i="0" u="none" strike="noStrike" cap="none">
                <a:solidFill>
                  <a:srgbClr val="000000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4pPr>
            <a:lvl5pPr marL="2286000" marR="0" lvl="4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000"/>
              <a:buFont typeface="Helvetica Neue"/>
              <a:buNone/>
              <a:defRPr sz="3000" b="0" i="0" u="none" strike="noStrike" cap="none">
                <a:solidFill>
                  <a:srgbClr val="000000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5pPr>
            <a:lvl6pPr marL="2743200" marR="0" lvl="5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000"/>
              <a:buFont typeface="Helvetica Neue"/>
              <a:buNone/>
              <a:defRPr sz="3000" b="0" i="0" u="none" strike="noStrike" cap="none">
                <a:solidFill>
                  <a:srgbClr val="000000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6pPr>
            <a:lvl7pPr marL="3200400" marR="0" lvl="6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000"/>
              <a:buFont typeface="Helvetica Neue"/>
              <a:buNone/>
              <a:defRPr sz="3000" b="0" i="0" u="none" strike="noStrike" cap="none">
                <a:solidFill>
                  <a:srgbClr val="000000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7pPr>
            <a:lvl8pPr marL="3657600" marR="0" lvl="7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000"/>
              <a:buFont typeface="Helvetica Neue"/>
              <a:buNone/>
              <a:defRPr sz="3000" b="0" i="0" u="none" strike="noStrike" cap="none">
                <a:solidFill>
                  <a:srgbClr val="000000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8pPr>
            <a:lvl9pPr marL="4114800" marR="0" lvl="8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000"/>
              <a:buFont typeface="Helvetica Neue"/>
              <a:buNone/>
              <a:defRPr sz="3000" b="0" i="0" u="none" strike="noStrike" cap="none">
                <a:solidFill>
                  <a:srgbClr val="000000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9pPr>
          </a:lstStyle>
          <a:p>
            <a:pPr marL="0" indent="0"/>
            <a:r>
              <a:rPr lang="en-US" dirty="0"/>
              <a:t>DON’T BOTHER: </a:t>
            </a:r>
          </a:p>
          <a:p>
            <a:pPr marL="0" indent="0"/>
            <a:r>
              <a:rPr lang="en-US" dirty="0"/>
              <a:t>That core works the way it should. </a:t>
            </a:r>
          </a:p>
          <a:p>
            <a:pPr marL="0" indent="0"/>
            <a:r>
              <a:rPr lang="en-US" dirty="0"/>
              <a:t>That </a:t>
            </a:r>
            <a:r>
              <a:rPr lang="en-US" dirty="0" err="1"/>
              <a:t>contrib</a:t>
            </a:r>
            <a:r>
              <a:rPr lang="en-US" dirty="0"/>
              <a:t> does what its README says. (You’ll test the features you want in your own behavior tests.)</a:t>
            </a:r>
          </a:p>
          <a:p>
            <a:pPr marL="0" indent="0"/>
            <a:r>
              <a:rPr lang="en-US" dirty="0"/>
              <a:t>Implementation details. </a:t>
            </a:r>
          </a:p>
          <a:p>
            <a:pPr marL="0" indent="0"/>
            <a:r>
              <a:rPr lang="en-US" dirty="0"/>
              <a:t>CSS classes (please). </a:t>
            </a:r>
          </a:p>
          <a:p>
            <a:pPr marL="0" indent="0"/>
            <a:endParaRPr lang="en-US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1" name="Title"/>
          <p:cNvSpPr txBox="1">
            <a:spLocks noGrp="1"/>
          </p:cNvSpPr>
          <p:nvPr>
            <p:ph type="title"/>
          </p:nvPr>
        </p:nvSpPr>
        <p:spPr>
          <a:xfrm>
            <a:off x="1616850" y="1197425"/>
            <a:ext cx="21201300" cy="2035800"/>
          </a:xfrm>
          <a:prstGeom prst="rect">
            <a:avLst/>
          </a:prstGeom>
        </p:spPr>
        <p:txBody>
          <a:bodyPr spcFirstLastPara="1" wrap="square" lIns="50800" tIns="50800" rIns="50800" bIns="508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But how?!?!?!</a:t>
            </a:r>
            <a:endParaRPr/>
          </a:p>
        </p:txBody>
      </p:sp>
      <p:pic>
        <p:nvPicPr>
          <p:cNvPr id="1102" name="Cat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92000" y="3500000"/>
            <a:ext cx="12000000" cy="8000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" name="Google Shape;256;p38"/>
          <p:cNvSpPr txBox="1">
            <a:spLocks noGrp="1"/>
          </p:cNvSpPr>
          <p:nvPr>
            <p:ph type="ctrTitle"/>
          </p:nvPr>
        </p:nvSpPr>
        <p:spPr>
          <a:xfrm>
            <a:off x="3048000" y="2854326"/>
            <a:ext cx="18288000" cy="47751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Helvetica Neue"/>
              <a:buNone/>
            </a:pPr>
            <a:endParaRPr sz="6000" b="0" dirty="0">
              <a:solidFill>
                <a:srgbClr val="000000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1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800"/>
              <a:buFont typeface="Helvetica Neue"/>
              <a:buNone/>
            </a:pPr>
            <a:endParaRPr sz="4800" dirty="0">
              <a:solidFill>
                <a:srgbClr val="000000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2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Helvetica Neue"/>
              <a:buNone/>
            </a:pPr>
            <a:endParaRPr sz="3600" dirty="0">
              <a:solidFill>
                <a:srgbClr val="000000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3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Helvetica Neue"/>
              <a:buNone/>
            </a:pPr>
            <a:endParaRPr sz="3600" dirty="0">
              <a:solidFill>
                <a:srgbClr val="000000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4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Helvetica Neue"/>
              <a:buNone/>
            </a:pPr>
            <a:endParaRPr sz="3600" dirty="0">
              <a:solidFill>
                <a:srgbClr val="000000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5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Helvetica Neue"/>
              <a:buNone/>
            </a:pPr>
            <a:endParaRPr sz="3600" dirty="0">
              <a:solidFill>
                <a:srgbClr val="000000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6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Helvetica Neue"/>
              <a:buNone/>
            </a:pPr>
            <a:endParaRPr sz="3600" dirty="0">
              <a:solidFill>
                <a:srgbClr val="000000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7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Helvetica Neue"/>
              <a:buNone/>
            </a:pPr>
            <a:endParaRPr sz="3600" dirty="0">
              <a:solidFill>
                <a:srgbClr val="000000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8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Helvetica Neue"/>
              <a:buNone/>
            </a:pPr>
            <a:endParaRPr sz="3600" dirty="0">
              <a:solidFill>
                <a:srgbClr val="000000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0" dirty="0"/>
              <a:t>TESTING IN DRUPAL</a:t>
            </a:r>
            <a:endParaRPr sz="10000" dirty="0"/>
          </a:p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0" dirty="0"/>
              <a:t>IS… A LOT.</a:t>
            </a:r>
            <a:endParaRPr dirty="0"/>
          </a:p>
        </p:txBody>
      </p:sp>
      <p:sp>
        <p:nvSpPr>
          <p:cNvPr id="257" name="Google Shape;257;p38"/>
          <p:cNvSpPr txBox="1">
            <a:spLocks noGrp="1"/>
          </p:cNvSpPr>
          <p:nvPr>
            <p:ph type="subTitle" idx="1"/>
          </p:nvPr>
        </p:nvSpPr>
        <p:spPr>
          <a:xfrm>
            <a:off x="3048000" y="8806085"/>
            <a:ext cx="18288000" cy="26904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ctr" rtl="0">
              <a:spcBef>
                <a:spcPts val="2000"/>
              </a:spcBef>
              <a:spcAft>
                <a:spcPts val="0"/>
              </a:spcAft>
              <a:buNone/>
            </a:pPr>
            <a:r>
              <a:rPr lang="en-US" dirty="0"/>
              <a:t>But it is completely worth it.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14228450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Google Shape;152;p24"/>
          <p:cNvSpPr txBox="1">
            <a:spLocks noGrp="1"/>
          </p:cNvSpPr>
          <p:nvPr>
            <p:ph type="title"/>
          </p:nvPr>
        </p:nvSpPr>
        <p:spPr>
          <a:xfrm>
            <a:off x="1616850" y="1197425"/>
            <a:ext cx="21201300" cy="2035800"/>
          </a:xfrm>
          <a:prstGeom prst="rect">
            <a:avLst/>
          </a:prstGeom>
        </p:spPr>
        <p:txBody>
          <a:bodyPr spcFirstLastPara="1" wrap="square" lIns="50800" tIns="50800" rIns="50800" bIns="508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Your four options</a:t>
            </a:r>
            <a:endParaRPr dirty="0"/>
          </a:p>
        </p:txBody>
      </p:sp>
      <p:sp>
        <p:nvSpPr>
          <p:cNvPr id="153" name="Google Shape;153;p24"/>
          <p:cNvSpPr txBox="1">
            <a:spLocks noGrp="1"/>
          </p:cNvSpPr>
          <p:nvPr>
            <p:ph type="body" idx="1"/>
          </p:nvPr>
        </p:nvSpPr>
        <p:spPr>
          <a:xfrm>
            <a:off x="1616700" y="3755725"/>
            <a:ext cx="21201300" cy="8520000"/>
          </a:xfrm>
          <a:prstGeom prst="rect">
            <a:avLst/>
          </a:prstGeom>
        </p:spPr>
        <p:txBody>
          <a:bodyPr spcFirstLastPara="1" wrap="square" lIns="50800" tIns="50800" rIns="50800" bIns="50800" anchor="t" anchorCtr="0">
            <a:noAutofit/>
          </a:bodyPr>
          <a:lstStyle/>
          <a:p>
            <a:pPr marL="457200" lvl="0" indent="-609600" algn="l" rtl="0">
              <a:spcBef>
                <a:spcPts val="0"/>
              </a:spcBef>
              <a:spcAft>
                <a:spcPts val="0"/>
              </a:spcAft>
              <a:buSzPts val="6000"/>
              <a:buChar char="•"/>
            </a:pPr>
            <a:r>
              <a:rPr lang="en-US" dirty="0"/>
              <a:t>Unit tests: fast, isolated, but you end up testing your mocks as much as your functionality.</a:t>
            </a:r>
            <a:endParaRPr dirty="0"/>
          </a:p>
          <a:p>
            <a:pPr marL="457200" lvl="0" indent="-609600" algn="l" rtl="0">
              <a:spcBef>
                <a:spcPts val="0"/>
              </a:spcBef>
              <a:spcAft>
                <a:spcPts val="0"/>
              </a:spcAft>
              <a:buSzPts val="6000"/>
              <a:buChar char="•"/>
            </a:pPr>
            <a:r>
              <a:rPr lang="en-US" dirty="0"/>
              <a:t>Kernel tests: half a Drupal. Real DB. No site. </a:t>
            </a:r>
          </a:p>
          <a:p>
            <a:pPr marL="457200" lvl="0" indent="-609600" algn="l" rtl="0">
              <a:spcBef>
                <a:spcPts val="0"/>
              </a:spcBef>
              <a:spcAft>
                <a:spcPts val="0"/>
              </a:spcAft>
              <a:buSzPts val="6000"/>
              <a:buChar char="•"/>
            </a:pPr>
            <a:r>
              <a:rPr lang="en-US" dirty="0"/>
              <a:t>Functional / </a:t>
            </a:r>
            <a:r>
              <a:rPr lang="en-US" dirty="0" err="1"/>
              <a:t>FunctionalJS</a:t>
            </a:r>
            <a:r>
              <a:rPr lang="en-US" dirty="0"/>
              <a:t>: full Drupal that reinstalls every run. Slow. No real data.</a:t>
            </a:r>
          </a:p>
          <a:p>
            <a:pPr marL="457200" lvl="0" indent="-609600" algn="l" rtl="0">
              <a:spcBef>
                <a:spcPts val="0"/>
              </a:spcBef>
              <a:spcAft>
                <a:spcPts val="0"/>
              </a:spcAft>
              <a:buSzPts val="6000"/>
              <a:buChar char="•"/>
            </a:pPr>
            <a:r>
              <a:rPr lang="en-US" dirty="0" err="1"/>
              <a:t>Behat</a:t>
            </a:r>
            <a:r>
              <a:rPr lang="en-US" dirty="0"/>
              <a:t>: a BDD framework, pushed well beyond its limits.</a:t>
            </a:r>
            <a:endParaRPr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1">
          <a:extLst>
            <a:ext uri="{FF2B5EF4-FFF2-40B4-BE49-F238E27FC236}">
              <a16:creationId xmlns:a16="http://schemas.microsoft.com/office/drawing/2014/main" id="{8921AE24-8176-1CCA-9A35-A5FD324C82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Google Shape;152;p24">
            <a:extLst>
              <a:ext uri="{FF2B5EF4-FFF2-40B4-BE49-F238E27FC236}">
                <a16:creationId xmlns:a16="http://schemas.microsoft.com/office/drawing/2014/main" id="{14DB1595-4FED-CE40-FF50-A4E343B36AB0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616850" y="1197425"/>
            <a:ext cx="21201300" cy="2035800"/>
          </a:xfrm>
          <a:prstGeom prst="rect">
            <a:avLst/>
          </a:prstGeom>
        </p:spPr>
        <p:txBody>
          <a:bodyPr spcFirstLastPara="1" wrap="square" lIns="50800" tIns="50800" rIns="50800" bIns="508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Wait, another option?</a:t>
            </a:r>
            <a:endParaRPr dirty="0"/>
          </a:p>
        </p:txBody>
      </p:sp>
      <p:pic>
        <p:nvPicPr>
          <p:cNvPr id="2" name="Picture 2" descr="Fifth Meat Beef and Dairy Network Podcast - Beef And Dairy Network - Pin |  TeePublic">
            <a:extLst>
              <a:ext uri="{FF2B5EF4-FFF2-40B4-BE49-F238E27FC236}">
                <a16:creationId xmlns:a16="http://schemas.microsoft.com/office/drawing/2014/main" id="{B4070849-0093-1792-1DF7-155E794D873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106980" y="3201327"/>
            <a:ext cx="8001000" cy="8001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5576054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" name="Google Shape;256;p38"/>
          <p:cNvSpPr txBox="1">
            <a:spLocks noGrp="1"/>
          </p:cNvSpPr>
          <p:nvPr>
            <p:ph type="ctrTitle"/>
          </p:nvPr>
        </p:nvSpPr>
        <p:spPr>
          <a:xfrm>
            <a:off x="3048000" y="2854326"/>
            <a:ext cx="18288000" cy="47751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Helvetica Neue"/>
              <a:buNone/>
            </a:pPr>
            <a:endParaRPr sz="6000" b="0">
              <a:solidFill>
                <a:srgbClr val="000000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1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800"/>
              <a:buFont typeface="Helvetica Neue"/>
              <a:buNone/>
            </a:pPr>
            <a:endParaRPr sz="4800">
              <a:solidFill>
                <a:srgbClr val="000000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2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Helvetica Neue"/>
              <a:buNone/>
            </a:pPr>
            <a:endParaRPr sz="3600">
              <a:solidFill>
                <a:srgbClr val="000000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3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Helvetica Neue"/>
              <a:buNone/>
            </a:pPr>
            <a:endParaRPr sz="3600">
              <a:solidFill>
                <a:srgbClr val="000000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4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Helvetica Neue"/>
              <a:buNone/>
            </a:pPr>
            <a:endParaRPr sz="3600">
              <a:solidFill>
                <a:srgbClr val="000000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5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Helvetica Neue"/>
              <a:buNone/>
            </a:pPr>
            <a:endParaRPr sz="3600">
              <a:solidFill>
                <a:srgbClr val="000000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6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Helvetica Neue"/>
              <a:buNone/>
            </a:pPr>
            <a:endParaRPr sz="3600">
              <a:solidFill>
                <a:srgbClr val="000000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7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Helvetica Neue"/>
              <a:buNone/>
            </a:pPr>
            <a:endParaRPr sz="3600">
              <a:solidFill>
                <a:srgbClr val="000000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8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Helvetica Neue"/>
              <a:buNone/>
            </a:pPr>
            <a:endParaRPr sz="3600">
              <a:solidFill>
                <a:srgbClr val="000000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0"/>
              <a:t>DRUPAL TEST</a:t>
            </a:r>
            <a:endParaRPr sz="10000"/>
          </a:p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0"/>
              <a:t>TRAITS.</a:t>
            </a:r>
            <a:endParaRPr/>
          </a:p>
        </p:txBody>
      </p:sp>
      <p:sp>
        <p:nvSpPr>
          <p:cNvPr id="257" name="Google Shape;257;p38"/>
          <p:cNvSpPr txBox="1">
            <a:spLocks noGrp="1"/>
          </p:cNvSpPr>
          <p:nvPr>
            <p:ph type="subTitle" idx="1"/>
          </p:nvPr>
        </p:nvSpPr>
        <p:spPr>
          <a:xfrm>
            <a:off x="3048000" y="8806085"/>
            <a:ext cx="18288000" cy="26904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ctr" rtl="0">
              <a:spcBef>
                <a:spcPts val="2000"/>
              </a:spcBef>
              <a:spcAft>
                <a:spcPts val="0"/>
              </a:spcAft>
              <a:buNone/>
            </a:pPr>
            <a:r>
              <a:rPr lang="en-US"/>
              <a:t>drupal.org/project/dtt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26"/>
          <p:cNvSpPr txBox="1">
            <a:spLocks noGrp="1"/>
          </p:cNvSpPr>
          <p:nvPr>
            <p:ph type="title"/>
          </p:nvPr>
        </p:nvSpPr>
        <p:spPr>
          <a:xfrm>
            <a:off x="2728275" y="2238050"/>
            <a:ext cx="18501300" cy="8855400"/>
          </a:xfrm>
          <a:prstGeom prst="rect">
            <a:avLst/>
          </a:prstGeom>
        </p:spPr>
        <p:txBody>
          <a:bodyPr spcFirstLastPara="1" wrap="square" lIns="50800" tIns="50800" rIns="50800" bIns="508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rgbClr val="953C96"/>
              </a:buClr>
              <a:buSzPts val="8000"/>
              <a:buFont typeface="Poppins"/>
              <a:buNone/>
            </a:pPr>
            <a:r>
              <a:rPr lang="en-US" dirty="0" err="1"/>
              <a:t>PHPUnit</a:t>
            </a:r>
            <a:r>
              <a:rPr lang="en-US" dirty="0"/>
              <a:t> tests against your already-installed dev site. With your real config and real content. </a:t>
            </a:r>
            <a:br>
              <a:rPr lang="en-US" dirty="0"/>
            </a:br>
            <a:r>
              <a:rPr lang="en-US" dirty="0"/>
              <a:t>No reinstall. No mocks.</a:t>
            </a:r>
            <a:endParaRPr dirty="0"/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Google Shape;152;p24"/>
          <p:cNvSpPr txBox="1">
            <a:spLocks noGrp="1"/>
          </p:cNvSpPr>
          <p:nvPr>
            <p:ph type="title"/>
          </p:nvPr>
        </p:nvSpPr>
        <p:spPr>
          <a:xfrm>
            <a:off x="1616850" y="1197425"/>
            <a:ext cx="21201300" cy="2035800"/>
          </a:xfrm>
          <a:prstGeom prst="rect">
            <a:avLst/>
          </a:prstGeom>
        </p:spPr>
        <p:txBody>
          <a:bodyPr spcFirstLastPara="1" wrap="square" lIns="50800" tIns="50800" rIns="50800" bIns="508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Why it changes everything</a:t>
            </a:r>
            <a:endParaRPr/>
          </a:p>
        </p:txBody>
      </p:sp>
      <p:sp>
        <p:nvSpPr>
          <p:cNvPr id="153" name="Google Shape;153;p24"/>
          <p:cNvSpPr txBox="1">
            <a:spLocks noGrp="1"/>
          </p:cNvSpPr>
          <p:nvPr>
            <p:ph type="body" idx="1"/>
          </p:nvPr>
        </p:nvSpPr>
        <p:spPr>
          <a:xfrm>
            <a:off x="1616700" y="3755725"/>
            <a:ext cx="21201300" cy="8520000"/>
          </a:xfrm>
          <a:prstGeom prst="rect">
            <a:avLst/>
          </a:prstGeom>
        </p:spPr>
        <p:txBody>
          <a:bodyPr spcFirstLastPara="1" wrap="square" lIns="50800" tIns="50800" rIns="50800" bIns="50800" anchor="t" anchorCtr="0">
            <a:noAutofit/>
          </a:bodyPr>
          <a:lstStyle/>
          <a:p>
            <a:pPr marL="457200" lvl="0" indent="-609600" algn="l" rtl="0">
              <a:spcBef>
                <a:spcPts val="0"/>
              </a:spcBef>
              <a:spcAft>
                <a:spcPts val="0"/>
              </a:spcAft>
              <a:buSzPts val="6000"/>
              <a:buChar char="•"/>
            </a:pPr>
            <a:r>
              <a:rPr lang="en-US" dirty="0"/>
              <a:t>Uses Drupal APIs to write test data</a:t>
            </a:r>
          </a:p>
          <a:p>
            <a:pPr marL="457200" lvl="0" indent="-609600" algn="l" rtl="0">
              <a:spcBef>
                <a:spcPts val="0"/>
              </a:spcBef>
              <a:spcAft>
                <a:spcPts val="0"/>
              </a:spcAft>
              <a:buSzPts val="6000"/>
              <a:buChar char="•"/>
            </a:pPr>
            <a:r>
              <a:rPr lang="en-US" dirty="0"/>
              <a:t>Cleans up its own data</a:t>
            </a:r>
          </a:p>
          <a:p>
            <a:pPr marL="457200" lvl="0" indent="-609600" algn="l" rtl="0">
              <a:spcBef>
                <a:spcPts val="0"/>
              </a:spcBef>
              <a:spcAft>
                <a:spcPts val="0"/>
              </a:spcAft>
              <a:buSzPts val="6000"/>
              <a:buChar char="•"/>
            </a:pPr>
            <a:r>
              <a:rPr lang="en-US" dirty="0"/>
              <a:t>Easy to script, like Cypress or Playwright but they can actually talk to Drupal natively</a:t>
            </a:r>
            <a:endParaRPr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" name="Google Shape;256;p38"/>
          <p:cNvSpPr txBox="1">
            <a:spLocks noGrp="1"/>
          </p:cNvSpPr>
          <p:nvPr>
            <p:ph type="ctrTitle"/>
          </p:nvPr>
        </p:nvSpPr>
        <p:spPr>
          <a:xfrm>
            <a:off x="3048000" y="2854326"/>
            <a:ext cx="18288000" cy="47751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Helvetica Neue"/>
              <a:buNone/>
            </a:pPr>
            <a:endParaRPr sz="6000" b="0" dirty="0">
              <a:solidFill>
                <a:srgbClr val="000000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1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800"/>
              <a:buFont typeface="Helvetica Neue"/>
              <a:buNone/>
            </a:pPr>
            <a:endParaRPr sz="4800" dirty="0">
              <a:solidFill>
                <a:srgbClr val="000000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2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Helvetica Neue"/>
              <a:buNone/>
            </a:pPr>
            <a:endParaRPr sz="3600" dirty="0">
              <a:solidFill>
                <a:srgbClr val="000000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3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Helvetica Neue"/>
              <a:buNone/>
            </a:pPr>
            <a:endParaRPr sz="3600" dirty="0">
              <a:solidFill>
                <a:srgbClr val="000000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4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Helvetica Neue"/>
              <a:buNone/>
            </a:pPr>
            <a:endParaRPr sz="3600" dirty="0">
              <a:solidFill>
                <a:srgbClr val="000000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5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Helvetica Neue"/>
              <a:buNone/>
            </a:pPr>
            <a:endParaRPr sz="3600" dirty="0">
              <a:solidFill>
                <a:srgbClr val="000000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6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Helvetica Neue"/>
              <a:buNone/>
            </a:pPr>
            <a:endParaRPr sz="3600" dirty="0">
              <a:solidFill>
                <a:srgbClr val="000000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7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Helvetica Neue"/>
              <a:buNone/>
            </a:pPr>
            <a:endParaRPr sz="3600" dirty="0">
              <a:solidFill>
                <a:srgbClr val="000000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8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Helvetica Neue"/>
              <a:buNone/>
            </a:pPr>
            <a:endParaRPr sz="3600" dirty="0">
              <a:solidFill>
                <a:srgbClr val="000000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0" dirty="0"/>
              <a:t>DEMOS!</a:t>
            </a:r>
            <a:endParaRPr sz="10000" dirty="0"/>
          </a:p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0" dirty="0"/>
              <a:t>SHOW ME THE DTT!</a:t>
            </a:r>
            <a:endParaRPr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55">
          <a:extLst>
            <a:ext uri="{FF2B5EF4-FFF2-40B4-BE49-F238E27FC236}">
              <a16:creationId xmlns:a16="http://schemas.microsoft.com/office/drawing/2014/main" id="{1E65814D-20A3-DB9C-D513-07E0B56C48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" name="Google Shape;256;p38">
            <a:extLst>
              <a:ext uri="{FF2B5EF4-FFF2-40B4-BE49-F238E27FC236}">
                <a16:creationId xmlns:a16="http://schemas.microsoft.com/office/drawing/2014/main" id="{217B5A2C-46CB-7AC7-1409-FBEFE70A3D56}"/>
              </a:ext>
            </a:extLst>
          </p:cNvPr>
          <p:cNvSpPr txBox="1">
            <a:spLocks noGrp="1"/>
          </p:cNvSpPr>
          <p:nvPr>
            <p:ph type="ctrTitle"/>
          </p:nvPr>
        </p:nvSpPr>
        <p:spPr>
          <a:xfrm>
            <a:off x="3048000" y="2854326"/>
            <a:ext cx="18288000" cy="47751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Helvetica Neue"/>
              <a:buNone/>
            </a:pPr>
            <a:endParaRPr sz="6000" b="0" dirty="0">
              <a:solidFill>
                <a:srgbClr val="000000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1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800"/>
              <a:buFont typeface="Helvetica Neue"/>
              <a:buNone/>
            </a:pPr>
            <a:endParaRPr sz="4800" dirty="0">
              <a:solidFill>
                <a:srgbClr val="000000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2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Helvetica Neue"/>
              <a:buNone/>
            </a:pPr>
            <a:endParaRPr sz="3600" dirty="0">
              <a:solidFill>
                <a:srgbClr val="000000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3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Helvetica Neue"/>
              <a:buNone/>
            </a:pPr>
            <a:endParaRPr sz="3600" dirty="0">
              <a:solidFill>
                <a:srgbClr val="000000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4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Helvetica Neue"/>
              <a:buNone/>
            </a:pPr>
            <a:endParaRPr sz="3600" dirty="0">
              <a:solidFill>
                <a:srgbClr val="000000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5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Helvetica Neue"/>
              <a:buNone/>
            </a:pPr>
            <a:endParaRPr sz="3600" dirty="0">
              <a:solidFill>
                <a:srgbClr val="000000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6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Helvetica Neue"/>
              <a:buNone/>
            </a:pPr>
            <a:endParaRPr sz="3600" dirty="0">
              <a:solidFill>
                <a:srgbClr val="000000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7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Helvetica Neue"/>
              <a:buNone/>
            </a:pPr>
            <a:endParaRPr sz="3600" dirty="0">
              <a:solidFill>
                <a:srgbClr val="000000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8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Helvetica Neue"/>
              <a:buNone/>
            </a:pPr>
            <a:endParaRPr sz="3600" dirty="0">
              <a:solidFill>
                <a:srgbClr val="000000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0" dirty="0"/>
              <a:t>CI/CD</a:t>
            </a:r>
            <a:br>
              <a:rPr lang="en-US" sz="10000" dirty="0"/>
            </a:br>
            <a:r>
              <a:rPr lang="en-US" sz="10000" dirty="0"/>
              <a:t>RUN YOUR TESTS AUTOMATICALLY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33317025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" name="Google Shape;256;p38"/>
          <p:cNvSpPr txBox="1">
            <a:spLocks noGrp="1"/>
          </p:cNvSpPr>
          <p:nvPr>
            <p:ph type="ctrTitle"/>
          </p:nvPr>
        </p:nvSpPr>
        <p:spPr>
          <a:xfrm>
            <a:off x="3048000" y="2854326"/>
            <a:ext cx="18288000" cy="47751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Helvetica Neue"/>
              <a:buNone/>
            </a:pPr>
            <a:endParaRPr sz="6000" b="0">
              <a:solidFill>
                <a:srgbClr val="000000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1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800"/>
              <a:buFont typeface="Helvetica Neue"/>
              <a:buNone/>
            </a:pPr>
            <a:endParaRPr sz="4800">
              <a:solidFill>
                <a:srgbClr val="000000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2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Helvetica Neue"/>
              <a:buNone/>
            </a:pPr>
            <a:endParaRPr sz="3600">
              <a:solidFill>
                <a:srgbClr val="000000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3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Helvetica Neue"/>
              <a:buNone/>
            </a:pPr>
            <a:endParaRPr sz="3600">
              <a:solidFill>
                <a:srgbClr val="000000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4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Helvetica Neue"/>
              <a:buNone/>
            </a:pPr>
            <a:endParaRPr sz="3600">
              <a:solidFill>
                <a:srgbClr val="000000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5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Helvetica Neue"/>
              <a:buNone/>
            </a:pPr>
            <a:endParaRPr sz="3600">
              <a:solidFill>
                <a:srgbClr val="000000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6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Helvetica Neue"/>
              <a:buNone/>
            </a:pPr>
            <a:endParaRPr sz="3600">
              <a:solidFill>
                <a:srgbClr val="000000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7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Helvetica Neue"/>
              <a:buNone/>
            </a:pPr>
            <a:endParaRPr sz="3600">
              <a:solidFill>
                <a:srgbClr val="000000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8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Helvetica Neue"/>
              <a:buNone/>
            </a:pPr>
            <a:endParaRPr sz="3600">
              <a:solidFill>
                <a:srgbClr val="000000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0"/>
              <a:t>TREASURES.</a:t>
            </a:r>
            <a:endParaRPr sz="10000"/>
          </a:p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0"/>
              <a:t>STEAL THESE.</a:t>
            </a:r>
            <a:endParaRPr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1" name="Title"/>
          <p:cNvSpPr txBox="1">
            <a:spLocks noGrp="1"/>
          </p:cNvSpPr>
          <p:nvPr>
            <p:ph type="title"/>
          </p:nvPr>
        </p:nvSpPr>
        <p:spPr>
          <a:xfrm>
            <a:off x="1616850" y="900000"/>
            <a:ext cx="21201300" cy="1700000"/>
          </a:xfrm>
          <a:prstGeom prst="rect">
            <a:avLst/>
          </a:prstGeom>
        </p:spPr>
        <p:txBody>
          <a:bodyPr spcFirstLastPara="1" wrap="square" lIns="50800" tIns="50800" rIns="50800" bIns="508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Lift these from the repo</a:t>
            </a:r>
            <a:endParaRPr/>
          </a:p>
        </p:txBody>
      </p:sp>
      <p:sp>
        <p:nvSpPr>
          <p:cNvPr id="802" name="Body"/>
          <p:cNvSpPr txBox="1">
            <a:spLocks noGrp="1"/>
          </p:cNvSpPr>
          <p:nvPr>
            <p:ph type="body" idx="1"/>
          </p:nvPr>
        </p:nvSpPr>
        <p:spPr>
          <a:xfrm>
            <a:off x="1616700" y="2700000"/>
            <a:ext cx="21201300" cy="10300000"/>
          </a:xfrm>
          <a:prstGeom prst="rect">
            <a:avLst/>
          </a:prstGeom>
        </p:spPr>
        <p:txBody>
          <a:bodyPr spcFirstLastPara="1" wrap="square" lIns="50800" tIns="50800" rIns="50800" bIns="50800" anchor="t" anchorCtr="0">
            <a:noAutofit/>
          </a:bodyPr>
          <a:lstStyle/>
          <a:p>
            <a:pPr marL="457200" lvl="0" indent="-609600" algn="l" rtl="0">
              <a:spcBef>
                <a:spcPts val="0"/>
              </a:spcBef>
              <a:spcAft>
                <a:spcPts val="400"/>
              </a:spcAft>
              <a:buSzPts val="5000"/>
              <a:buChar char="•"/>
            </a:pPr>
            <a:r>
              <a:rPr lang="en-US" sz="3600" b="1" dirty="0">
                <a:latin typeface="Courier New"/>
                <a:cs typeface="Courier New"/>
              </a:rPr>
              <a:t>JackotopiaTestBase</a:t>
            </a:r>
            <a:r>
              <a:rPr lang="en-US" sz="3600" dirty="0"/>
              <a:t> — the base class. Extend it and you get all of this for free.</a:t>
            </a:r>
          </a:p>
          <a:p>
            <a:pPr marL="1066800" lvl="1" indent="-457200" algn="l" rtl="0">
              <a:spcBef>
                <a:spcPts val="0"/>
              </a:spcBef>
              <a:spcAft>
                <a:spcPts val="200"/>
              </a:spcAft>
              <a:buSzPts val="3000"/>
              <a:buChar char="–"/>
            </a:pPr>
            <a:r>
              <a:rPr lang="en-US" sz="2400" dirty="0">
                <a:latin typeface="Courier New"/>
                <a:cs typeface="Courier New"/>
              </a:rPr>
              <a:t>drupalGet()</a:t>
            </a:r>
            <a:r>
              <a:rPr lang="en-US" sz="2400" dirty="0"/>
              <a:t> pre-seeds the </a:t>
            </a:r>
            <a:r>
              <a:rPr lang="en-US" sz="2400" dirty="0">
                <a:latin typeface="Courier New"/>
                <a:cs typeface="Courier New"/>
              </a:rPr>
              <a:t>big_pipe_nojs=1</a:t>
            </a:r>
            <a:r>
              <a:rPr lang="en-US" sz="2400" dirty="0"/>
              <a:t> cookie so BigPipe renders placeholders inline. No more silently-missing flash messages.</a:t>
            </a:r>
          </a:p>
          <a:p>
            <a:pPr marL="1066800" lvl="1" indent="-457200" algn="l" rtl="0">
              <a:spcBef>
                <a:spcPts val="0"/>
              </a:spcBef>
              <a:spcAft>
                <a:spcPts val="200"/>
              </a:spcAft>
              <a:buSzPts val="3000"/>
              <a:buChar char="–"/>
            </a:pPr>
            <a:r>
              <a:rPr lang="en-US" sz="2400" dirty="0">
                <a:latin typeface="Courier New"/>
                <a:cs typeface="Courier New"/>
              </a:rPr>
              <a:t>drupalGet()</a:t>
            </a:r>
            <a:r>
              <a:rPr lang="en-US" sz="2400" dirty="0"/>
              <a:t> and </a:t>
            </a:r>
            <a:r>
              <a:rPr lang="en-US" sz="2400" dirty="0">
                <a:latin typeface="Courier New"/>
                <a:cs typeface="Courier New"/>
              </a:rPr>
              <a:t>click()</a:t>
            </a:r>
            <a:r>
              <a:rPr lang="en-US" sz="2400" dirty="0"/>
              <a:t> auto-call </a:t>
            </a:r>
            <a:r>
              <a:rPr lang="en-US" sz="2400" dirty="0">
                <a:latin typeface="Courier New"/>
                <a:cs typeface="Courier New"/>
              </a:rPr>
              <a:t>assertNoErrorMessage()</a:t>
            </a:r>
            <a:r>
              <a:rPr lang="en-US" sz="2400" dirty="0"/>
              <a:t>. Every page load gets a free error check.</a:t>
            </a:r>
          </a:p>
          <a:p>
            <a:pPr marL="1066800" lvl="1" indent="-457200" algn="l" rtl="0">
              <a:spcBef>
                <a:spcPts val="0"/>
              </a:spcBef>
              <a:spcAft>
                <a:spcPts val="200"/>
              </a:spcAft>
              <a:buSzPts val="3000"/>
              <a:buChar char="–"/>
            </a:pPr>
            <a:r>
              <a:rPr lang="en-US" sz="2400" dirty="0">
                <a:latin typeface="Courier New"/>
                <a:cs typeface="Courier New"/>
              </a:rPr>
              <a:t>assertNoErrorMessage()</a:t>
            </a:r>
            <a:r>
              <a:rPr lang="en-US" sz="2400" dirty="0"/>
              <a:t> looks for </a:t>
            </a:r>
            <a:r>
              <a:rPr lang="en-US" sz="2400" dirty="0">
                <a:latin typeface="Courier New"/>
                <a:cs typeface="Courier New"/>
              </a:rPr>
              <a:t>.messages--error</a:t>
            </a:r>
            <a:r>
              <a:rPr lang="en-US" sz="2400" dirty="0"/>
              <a:t>, </a:t>
            </a:r>
            <a:r>
              <a:rPr lang="en-US" sz="2400" dirty="0">
                <a:latin typeface="Courier New"/>
                <a:cs typeface="Courier New"/>
              </a:rPr>
              <a:t>.alert-danger</a:t>
            </a:r>
            <a:r>
              <a:rPr lang="en-US" sz="2400" dirty="0"/>
              <a:t>, and the usual “unexpected error / Notice / Warning” texts.</a:t>
            </a:r>
          </a:p>
          <a:p>
            <a:pPr marL="1066800" lvl="1" indent="-457200" algn="l" rtl="0">
              <a:spcBef>
                <a:spcPts val="0"/>
              </a:spcBef>
              <a:spcAft>
                <a:spcPts val="500"/>
              </a:spcAft>
              <a:buSzPts val="3000"/>
              <a:buChar char="–"/>
            </a:pPr>
            <a:r>
              <a:rPr lang="en-US" sz="2400" dirty="0">
                <a:latin typeface="Courier New"/>
                <a:cs typeface="Courier New"/>
              </a:rPr>
              <a:t>clickLinkWithExplicitErrorMessageCheck()</a:t>
            </a:r>
            <a:r>
              <a:rPr lang="en-US" sz="2400" dirty="0"/>
              <a:t> opts out of the auto-check when a test </a:t>
            </a:r>
            <a:r>
              <a:rPr lang="en-US" sz="2400" i="1" dirty="0"/>
              <a:t>should</a:t>
            </a:r>
            <a:r>
              <a:rPr lang="en-US" sz="2400" dirty="0"/>
              <a:t> assert a specific error is present.</a:t>
            </a:r>
          </a:p>
          <a:p>
            <a:pPr marL="457200" lvl="0" indent="-609600" algn="l" rtl="0">
              <a:spcBef>
                <a:spcPts val="0"/>
              </a:spcBef>
              <a:spcAft>
                <a:spcPts val="400"/>
              </a:spcAft>
              <a:buSzPts val="5000"/>
              <a:buChar char="•"/>
            </a:pPr>
            <a:r>
              <a:rPr lang="en-US" sz="3600" b="1" dirty="0">
                <a:latin typeface="Courier New"/>
                <a:cs typeface="Courier New"/>
              </a:rPr>
              <a:t>ConfigTrait</a:t>
            </a:r>
            <a:r>
              <a:rPr lang="en-US" sz="3600" dirty="0"/>
              <a:t> — </a:t>
            </a:r>
            <a:r>
              <a:rPr lang="en-US" sz="3600" dirty="0">
                <a:latin typeface="Courier New"/>
                <a:cs typeface="Courier New"/>
              </a:rPr>
              <a:t>getConfig($name)</a:t>
            </a:r>
            <a:r>
              <a:rPr lang="en-US" sz="3600" dirty="0"/>
              <a:t> and </a:t>
            </a:r>
            <a:r>
              <a:rPr lang="en-US" sz="3600" dirty="0">
                <a:latin typeface="Courier New"/>
                <a:cs typeface="Courier New"/>
              </a:rPr>
              <a:t>assertConfigValue($name, $key, $expected)</a:t>
            </a:r>
            <a:r>
              <a:rPr lang="en-US" sz="3600" dirty="0"/>
              <a:t>. One-liner config assertions at dotted key paths.</a:t>
            </a:r>
          </a:p>
          <a:p>
            <a:pPr marL="457200" lvl="0" indent="-609600" algn="l" rtl="0">
              <a:spcBef>
                <a:spcPts val="0"/>
              </a:spcBef>
              <a:spcAft>
                <a:spcPts val="400"/>
              </a:spcAft>
              <a:buSzPts val="5000"/>
              <a:buChar char="•"/>
            </a:pPr>
            <a:r>
              <a:rPr lang="en-US" sz="3600" b="1" dirty="0">
                <a:latin typeface="Courier New"/>
                <a:cs typeface="Courier New"/>
              </a:rPr>
              <a:t>DebugTrait::pauseForUserInput()</a:t>
            </a:r>
            <a:r>
              <a:rPr lang="en-US" sz="3600" dirty="0"/>
              <a:t> — drop it into a running test, halts on STDIN. Click around the live site mid-test, press Return to continue.</a:t>
            </a:r>
          </a:p>
          <a:p>
            <a:pPr marL="457200" lvl="0" indent="-609600" algn="l" rtl="0">
              <a:spcBef>
                <a:spcPts val="0"/>
              </a:spcBef>
              <a:spcAft>
                <a:spcPts val="0"/>
              </a:spcAft>
              <a:buSzPts val="5000"/>
              <a:buChar char="•"/>
            </a:pPr>
            <a:r>
              <a:rPr lang="en-US" sz="3600" b="1" dirty="0">
                <a:latin typeface="Courier New"/>
                <a:cs typeface="Courier New"/>
              </a:rPr>
              <a:t>NodeContentTrait</a:t>
            </a:r>
            <a:r>
              <a:rPr lang="en-US" sz="3600" dirty="0"/>
              <a:t> — </a:t>
            </a:r>
            <a:r>
              <a:rPr lang="en-US" sz="3600" dirty="0">
                <a:latin typeface="Courier New"/>
                <a:cs typeface="Courier New"/>
              </a:rPr>
              <a:t>unpublishNodesOfBundle()</a:t>
            </a:r>
            <a:r>
              <a:rPr lang="en-US" sz="3600" dirty="0"/>
              <a:t> wipes a content type for the duration of the test; </a:t>
            </a:r>
            <a:r>
              <a:rPr lang="en-US" sz="3600" dirty="0">
                <a:latin typeface="Courier New"/>
                <a:cs typeface="Courier New"/>
              </a:rPr>
              <a:t>republishUnpublishedNodes()</a:t>
            </a:r>
            <a:r>
              <a:rPr lang="en-US" sz="3600" dirty="0"/>
              <a:t> restores them in tearDown. Assert “the empty state” without nuking real content.</a:t>
            </a:r>
            <a:endParaRPr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Google Shape;152;p24"/>
          <p:cNvSpPr txBox="1">
            <a:spLocks noGrp="1"/>
          </p:cNvSpPr>
          <p:nvPr>
            <p:ph type="title"/>
          </p:nvPr>
        </p:nvSpPr>
        <p:spPr>
          <a:xfrm>
            <a:off x="1616850" y="1197425"/>
            <a:ext cx="21201300" cy="2035800"/>
          </a:xfrm>
          <a:prstGeom prst="rect">
            <a:avLst/>
          </a:prstGeom>
        </p:spPr>
        <p:txBody>
          <a:bodyPr spcFirstLastPara="1" wrap="square" lIns="50800" tIns="50800" rIns="50800" bIns="508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The deal</a:t>
            </a:r>
            <a:endParaRPr/>
          </a:p>
        </p:txBody>
      </p:sp>
      <p:sp>
        <p:nvSpPr>
          <p:cNvPr id="153" name="Google Shape;153;p24"/>
          <p:cNvSpPr txBox="1">
            <a:spLocks noGrp="1"/>
          </p:cNvSpPr>
          <p:nvPr>
            <p:ph type="body" idx="1"/>
          </p:nvPr>
        </p:nvSpPr>
        <p:spPr>
          <a:xfrm>
            <a:off x="1616700" y="3755725"/>
            <a:ext cx="21201300" cy="8520000"/>
          </a:xfrm>
          <a:prstGeom prst="rect">
            <a:avLst/>
          </a:prstGeom>
        </p:spPr>
        <p:txBody>
          <a:bodyPr spcFirstLastPara="1" wrap="square" lIns="50800" tIns="50800" rIns="50800" bIns="50800" anchor="t" anchorCtr="0">
            <a:noAutofit/>
          </a:bodyPr>
          <a:lstStyle/>
          <a:p>
            <a:pPr marL="457200" lvl="0" indent="-609600" algn="l" rtl="0">
              <a:spcBef>
                <a:spcPts val="0"/>
              </a:spcBef>
              <a:spcAft>
                <a:spcPts val="0"/>
              </a:spcAft>
              <a:buSzPts val="6000"/>
              <a:buChar char="•"/>
            </a:pPr>
            <a:r>
              <a:rPr lang="en-US"/>
              <a:t>Solidify your work. Prevent regressions. Develop faster.</a:t>
            </a:r>
            <a:endParaRPr/>
          </a:p>
          <a:p>
            <a:pPr marL="457200" lvl="0" indent="-609600" algn="l" rtl="0">
              <a:spcBef>
                <a:spcPts val="0"/>
              </a:spcBef>
              <a:spcAft>
                <a:spcPts val="0"/>
              </a:spcAft>
              <a:buSzPts val="6000"/>
              <a:buChar char="•"/>
            </a:pPr>
            <a:r>
              <a:rPr lang="en-US"/>
              <a:t>Be more reliable. Get more sleep.</a:t>
            </a:r>
            <a:endParaRPr/>
          </a:p>
        </p:txBody>
      </p:sp>
      <p:pic>
        <p:nvPicPr>
          <p:cNvPr id="154" name="Cat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000000" y="6500000"/>
            <a:ext cx="9500000" cy="6320000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Google Shape;152;p24"/>
          <p:cNvSpPr txBox="1">
            <a:spLocks noGrp="1"/>
          </p:cNvSpPr>
          <p:nvPr>
            <p:ph type="title"/>
          </p:nvPr>
        </p:nvSpPr>
        <p:spPr>
          <a:xfrm>
            <a:off x="1616850" y="1197425"/>
            <a:ext cx="21201300" cy="2035800"/>
          </a:xfrm>
          <a:prstGeom prst="rect">
            <a:avLst/>
          </a:prstGeom>
        </p:spPr>
        <p:txBody>
          <a:bodyPr spcFirstLastPara="1" wrap="square" lIns="50800" tIns="50800" rIns="50800" bIns="508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Resources</a:t>
            </a:r>
            <a:endParaRPr/>
          </a:p>
        </p:txBody>
      </p:sp>
      <p:sp>
        <p:nvSpPr>
          <p:cNvPr id="153" name="Google Shape;153;p24"/>
          <p:cNvSpPr txBox="1">
            <a:spLocks noGrp="1"/>
          </p:cNvSpPr>
          <p:nvPr>
            <p:ph type="body" idx="1"/>
          </p:nvPr>
        </p:nvSpPr>
        <p:spPr>
          <a:xfrm>
            <a:off x="1616700" y="3755725"/>
            <a:ext cx="21201300" cy="8520000"/>
          </a:xfrm>
          <a:prstGeom prst="rect">
            <a:avLst/>
          </a:prstGeom>
        </p:spPr>
        <p:txBody>
          <a:bodyPr spcFirstLastPara="1" wrap="square" lIns="50800" tIns="50800" rIns="50800" bIns="50800" anchor="t" anchorCtr="0">
            <a:noAutofit/>
          </a:bodyPr>
          <a:lstStyle/>
          <a:p>
            <a:pPr marL="457200" lvl="0" indent="-609600" algn="l" rtl="0">
              <a:spcBef>
                <a:spcPts val="0"/>
              </a:spcBef>
              <a:spcAft>
                <a:spcPts val="0"/>
              </a:spcAft>
              <a:buSzPts val="6000"/>
              <a:buChar char="•"/>
            </a:pPr>
            <a:r>
              <a:rPr lang="en-US" dirty="0">
                <a:hlinkClick r:id="rId2"/>
              </a:rPr>
              <a:t>https://drupal.org/project/dtt</a:t>
            </a:r>
            <a:r>
              <a:rPr lang="en-US" dirty="0"/>
              <a:t> - Drupal Test Traits project</a:t>
            </a:r>
            <a:endParaRPr dirty="0"/>
          </a:p>
          <a:p>
            <a:pPr marL="457200" lvl="0" indent="-609600" algn="l" rtl="0">
              <a:spcBef>
                <a:spcPts val="0"/>
              </a:spcBef>
              <a:spcAft>
                <a:spcPts val="0"/>
              </a:spcAft>
              <a:buSzPts val="6000"/>
              <a:buChar char="•"/>
            </a:pPr>
            <a:r>
              <a:rPr lang="en-US" dirty="0">
                <a:hlinkClick r:id="rId3"/>
              </a:rPr>
              <a:t>https://www.breaktech.com/post/testing-is-hard-but-totally-worth-it</a:t>
            </a:r>
            <a:r>
              <a:rPr lang="en-US" dirty="0"/>
              <a:t> — my article on why testing matters </a:t>
            </a:r>
          </a:p>
          <a:p>
            <a:pPr marL="457200" lvl="0" indent="-609600" algn="l" rtl="0">
              <a:spcBef>
                <a:spcPts val="0"/>
              </a:spcBef>
              <a:spcAft>
                <a:spcPts val="0"/>
              </a:spcAft>
              <a:buSzPts val="6000"/>
              <a:buChar char="•"/>
            </a:pPr>
            <a:r>
              <a:rPr lang="en-US" dirty="0">
                <a:hlinkClick r:id="rId4"/>
              </a:rPr>
              <a:t>https://github.com/jonathanfranks/dtt2026</a:t>
            </a:r>
            <a:r>
              <a:rPr lang="en-US" dirty="0"/>
              <a:t> - these slides and the repo</a:t>
            </a:r>
            <a:endParaRPr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42"/>
          <p:cNvSpPr txBox="1"/>
          <p:nvPr/>
        </p:nvSpPr>
        <p:spPr>
          <a:xfrm>
            <a:off x="7906250" y="3702175"/>
            <a:ext cx="14522100" cy="2422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6BDFF"/>
              </a:buClr>
              <a:buSzPts val="10000"/>
              <a:buFont typeface="Averia Serif Libre"/>
              <a:buNone/>
            </a:pPr>
            <a:r>
              <a:rPr lang="en-US" sz="10000" b="1" i="0" u="none" strike="noStrike" cap="none">
                <a:solidFill>
                  <a:srgbClr val="66BDFF"/>
                </a:solidFill>
                <a:latin typeface="Averia Serif Libre"/>
                <a:ea typeface="Averia Serif Libre"/>
                <a:cs typeface="Averia Serif Libre"/>
                <a:sym typeface="Averia Serif Libre"/>
              </a:rPr>
              <a:t>CONTRIBUTION DAY</a:t>
            </a:r>
            <a:endParaRPr sz="10000" b="1" i="0" u="none" strike="noStrike" cap="none">
              <a:solidFill>
                <a:srgbClr val="66BDFF"/>
              </a:solidFill>
              <a:latin typeface="Averia Serif Libre"/>
              <a:ea typeface="Averia Serif Libre"/>
              <a:cs typeface="Averia Serif Libre"/>
              <a:sym typeface="Averia Serif Libre"/>
            </a:endParaRPr>
          </a:p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6BDFF"/>
              </a:buClr>
              <a:buSzPts val="10000"/>
              <a:buFont typeface="Averia Serif Libre"/>
              <a:buNone/>
            </a:pPr>
            <a:r>
              <a:rPr lang="en-US" sz="8000">
                <a:solidFill>
                  <a:srgbClr val="66BDFF"/>
                </a:solidFill>
                <a:latin typeface="Poppins"/>
                <a:ea typeface="Poppins"/>
                <a:cs typeface="Poppins"/>
                <a:sym typeface="Poppins"/>
              </a:rPr>
              <a:t>Thursday</a:t>
            </a:r>
            <a:r>
              <a:rPr lang="en-US" sz="8000" b="0" i="0" u="none" strike="noStrike" cap="none">
                <a:solidFill>
                  <a:srgbClr val="66BDFF"/>
                </a:solidFill>
                <a:latin typeface="Poppins"/>
                <a:ea typeface="Poppins"/>
                <a:cs typeface="Poppins"/>
                <a:sym typeface="Poppins"/>
              </a:rPr>
              <a:t> 10:00 AM to 4:00 PM</a:t>
            </a:r>
            <a:endParaRPr sz="8000" b="0" i="0" u="none" strike="noStrike" cap="none">
              <a:solidFill>
                <a:srgbClr val="66BDFF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280" name="Google Shape;280;p42"/>
          <p:cNvSpPr txBox="1"/>
          <p:nvPr/>
        </p:nvSpPr>
        <p:spPr>
          <a:xfrm>
            <a:off x="7906250" y="6306100"/>
            <a:ext cx="14522100" cy="429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</a:pPr>
            <a:r>
              <a:rPr lang="en-US" sz="4000" b="0" i="0" u="none" strike="noStrike" cap="none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rPr>
              <a:t>You don't have to know code to give back!</a:t>
            </a:r>
            <a:endParaRPr sz="4000" b="0" i="0" u="none" strike="noStrike" cap="none">
              <a:solidFill>
                <a:schemeClr val="lt1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Poppins"/>
              <a:buNone/>
            </a:pPr>
            <a:endParaRPr sz="4000" b="0" i="0" u="none" strike="noStrike" cap="none">
              <a:solidFill>
                <a:schemeClr val="lt1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Poppins"/>
              <a:buNone/>
            </a:pPr>
            <a:r>
              <a:rPr lang="en-US" sz="4000" b="0" i="0" u="none" strike="noStrike" cap="none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rPr>
              <a:t>New Contributor training </a:t>
            </a:r>
            <a:r>
              <a:rPr lang="en-US" sz="40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rPr>
              <a:t>9:00 AM</a:t>
            </a:r>
            <a:r>
              <a:rPr lang="en-US" sz="4000" b="0" i="0" u="none" strike="noStrike" cap="none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rPr>
              <a:t> to </a:t>
            </a:r>
            <a:r>
              <a:rPr lang="en-US" sz="40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rPr>
              <a:t>10:00 AM</a:t>
            </a:r>
            <a:endParaRPr sz="40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81" name="Google Shape;281;p42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603400" y="4239949"/>
            <a:ext cx="5000625" cy="61912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48"/>
          <p:cNvSpPr txBox="1"/>
          <p:nvPr/>
        </p:nvSpPr>
        <p:spPr>
          <a:xfrm>
            <a:off x="5946625" y="3702175"/>
            <a:ext cx="16481700" cy="2422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10300" b="1">
                <a:solidFill>
                  <a:srgbClr val="1F7317"/>
                </a:solidFill>
                <a:latin typeface="Averia Serif Libre"/>
                <a:ea typeface="Averia Serif Libre"/>
                <a:cs typeface="Averia Serif Libre"/>
                <a:sym typeface="Averia Serif Libre"/>
              </a:rPr>
              <a:t>Drupal Coffee Exchange</a:t>
            </a:r>
            <a:endParaRPr sz="10300" b="1">
              <a:solidFill>
                <a:srgbClr val="1F7317"/>
              </a:solidFill>
              <a:latin typeface="Averia Serif Libre"/>
              <a:ea typeface="Averia Serif Libre"/>
              <a:cs typeface="Averia Serif Libre"/>
              <a:sym typeface="Averia Serif Libre"/>
            </a:endParaRPr>
          </a:p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10300" b="1">
                <a:solidFill>
                  <a:srgbClr val="1F7317"/>
                </a:solidFill>
                <a:latin typeface="Averia Serif Libre"/>
                <a:ea typeface="Averia Serif Libre"/>
                <a:cs typeface="Averia Serif Libre"/>
                <a:sym typeface="Averia Serif Libre"/>
              </a:rPr>
              <a:t>at MidCamp</a:t>
            </a:r>
            <a:endParaRPr sz="10300" b="1">
              <a:solidFill>
                <a:srgbClr val="1F7317"/>
              </a:solidFill>
              <a:latin typeface="Averia Serif Libre"/>
              <a:ea typeface="Averia Serif Libre"/>
              <a:cs typeface="Averia Serif Libre"/>
              <a:sym typeface="Averia Serif Libre"/>
            </a:endParaRPr>
          </a:p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10300" b="1">
              <a:solidFill>
                <a:srgbClr val="1F7317"/>
              </a:solidFill>
              <a:latin typeface="Averia Serif Libre"/>
              <a:ea typeface="Averia Serif Libre"/>
              <a:cs typeface="Averia Serif Libre"/>
              <a:sym typeface="Averia Serif Libre"/>
            </a:endParaRPr>
          </a:p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6BDFF"/>
              </a:buClr>
              <a:buSzPts val="10000"/>
              <a:buFont typeface="Averia Serif Libre"/>
              <a:buNone/>
            </a:pPr>
            <a:endParaRPr sz="10300" b="1">
              <a:solidFill>
                <a:srgbClr val="1F7317"/>
              </a:solidFill>
              <a:latin typeface="Averia Serif Libre"/>
              <a:ea typeface="Averia Serif Libre"/>
              <a:cs typeface="Averia Serif Libre"/>
              <a:sym typeface="Averia Serif Libre"/>
            </a:endParaRPr>
          </a:p>
        </p:txBody>
      </p:sp>
      <p:sp>
        <p:nvSpPr>
          <p:cNvPr id="318" name="Google Shape;318;p48"/>
          <p:cNvSpPr txBox="1"/>
          <p:nvPr/>
        </p:nvSpPr>
        <p:spPr>
          <a:xfrm>
            <a:off x="7906250" y="7753900"/>
            <a:ext cx="14522100" cy="429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63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Bring a bag of beans,</a:t>
            </a:r>
            <a:endParaRPr sz="6300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63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Leave with a bag of beans.</a:t>
            </a:r>
            <a:endParaRPr sz="6300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6300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63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That’s how it works.</a:t>
            </a:r>
            <a:endParaRPr sz="6300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6300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63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MidCamp is in Chicago May 12-14</a:t>
            </a:r>
            <a:endParaRPr sz="6300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6300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Poppins"/>
              <a:buNone/>
            </a:pPr>
            <a:endParaRPr sz="6300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pic>
        <p:nvPicPr>
          <p:cNvPr id="319" name="Google Shape;319;p48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917600" y="658550"/>
            <a:ext cx="4858300" cy="6015025"/>
          </a:xfrm>
          <a:prstGeom prst="rect">
            <a:avLst/>
          </a:prstGeom>
          <a:noFill/>
          <a:ln>
            <a:noFill/>
          </a:ln>
        </p:spPr>
      </p:pic>
      <p:pic>
        <p:nvPicPr>
          <p:cNvPr id="320" name="Google Shape;320;p4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499676" y="5953650"/>
            <a:ext cx="6838806" cy="54133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40"/>
          <p:cNvSpPr txBox="1"/>
          <p:nvPr/>
        </p:nvSpPr>
        <p:spPr>
          <a:xfrm>
            <a:off x="4922730" y="5365650"/>
            <a:ext cx="14538600" cy="2984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6BDFF"/>
              </a:buClr>
              <a:buSzPts val="10000"/>
              <a:buFont typeface="Averia Serif Libre"/>
              <a:buNone/>
            </a:pPr>
            <a:r>
              <a:rPr lang="en-US" sz="10000" b="1" i="0" u="none" strike="noStrike" cap="none">
                <a:solidFill>
                  <a:srgbClr val="66BDFF"/>
                </a:solidFill>
                <a:latin typeface="Averia Serif Libre"/>
                <a:ea typeface="Averia Serif Libre"/>
                <a:cs typeface="Averia Serif Libre"/>
                <a:sym typeface="Averia Serif Libre"/>
              </a:rPr>
              <a:t>THANK YOU. </a:t>
            </a:r>
            <a:r>
              <a:rPr lang="en-US" sz="10000" b="1" i="0" u="none" strike="noStrike" cap="none">
                <a:solidFill>
                  <a:srgbClr val="FFFFFF"/>
                </a:solidFill>
                <a:latin typeface="Averia Serif Libre"/>
                <a:ea typeface="Averia Serif Libre"/>
                <a:cs typeface="Averia Serif Libre"/>
                <a:sym typeface="Averia Serif Libre"/>
              </a:rPr>
              <a:t>QUESTIONS?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68" name="Cat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500000" y="2500000"/>
            <a:ext cx="5500000" cy="8252000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2" name="Google Shape;272;p41"/>
          <p:cNvSpPr txBox="1"/>
          <p:nvPr/>
        </p:nvSpPr>
        <p:spPr>
          <a:xfrm>
            <a:off x="2109300" y="3194400"/>
            <a:ext cx="20165400" cy="732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EB36"/>
              </a:buClr>
              <a:buSzPts val="10000"/>
              <a:buFont typeface="Averia Serif Libre"/>
              <a:buNone/>
            </a:pPr>
            <a:r>
              <a:rPr lang="en-US" sz="10000" b="1" i="0" u="none" strike="noStrike" cap="none">
                <a:solidFill>
                  <a:srgbClr val="66BDFF"/>
                </a:solidFill>
                <a:latin typeface="Averia Serif Libre"/>
                <a:ea typeface="Averia Serif Libre"/>
                <a:cs typeface="Averia Serif Libre"/>
                <a:sym typeface="Averia Serif Libre"/>
              </a:rPr>
              <a:t>PLEASE PROVIDE YOUR FEEDBACK!</a:t>
            </a:r>
            <a:endParaRPr sz="10000" b="1" i="0" u="none" strike="noStrike" cap="none">
              <a:solidFill>
                <a:srgbClr val="66BDFF"/>
              </a:solidFill>
              <a:latin typeface="Averia Serif Libre"/>
              <a:ea typeface="Averia Serif Libre"/>
              <a:cs typeface="Averia Serif Libre"/>
              <a:sym typeface="Averia Serif Libre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EB36"/>
              </a:buClr>
              <a:buSzPts val="10000"/>
              <a:buFont typeface="Averia Serif Libre"/>
              <a:buNone/>
            </a:pPr>
            <a:endParaRPr sz="5000" b="1" i="0" u="none" strike="noStrike" cap="none">
              <a:solidFill>
                <a:srgbClr val="FFEB36"/>
              </a:solidFill>
              <a:latin typeface="Averia Serif Libre"/>
              <a:ea typeface="Averia Serif Libre"/>
              <a:cs typeface="Averia Serif Libre"/>
              <a:sym typeface="Averia Serif Libre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EB36"/>
              </a:buClr>
              <a:buSzPts val="10000"/>
              <a:buFont typeface="Averia Serif Libre"/>
              <a:buNone/>
            </a:pPr>
            <a:r>
              <a:rPr lang="en-US" sz="5000">
                <a:solidFill>
                  <a:srgbClr val="F8F9FA"/>
                </a:solidFill>
                <a:latin typeface="Poppins"/>
                <a:ea typeface="Poppins"/>
                <a:cs typeface="Poppins"/>
                <a:sym typeface="Poppins"/>
              </a:rPr>
              <a:t>mid.camp/29</a:t>
            </a:r>
            <a:endParaRPr sz="5000" b="0" i="0" u="none" strike="noStrike" cap="none">
              <a:solidFill>
                <a:srgbClr val="F8F9FA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EB36"/>
              </a:buClr>
              <a:buSzPts val="10000"/>
              <a:buFont typeface="Averia Serif Libre"/>
              <a:buNone/>
            </a:pPr>
            <a:endParaRPr sz="5000" b="1" i="0" u="none" strike="noStrike" cap="none">
              <a:solidFill>
                <a:srgbClr val="FFFFFF"/>
              </a:solidFill>
              <a:latin typeface="Averia Serif Libre"/>
              <a:ea typeface="Averia Serif Libre"/>
              <a:cs typeface="Averia Serif Libre"/>
              <a:sym typeface="Averia Serif Libre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EB36"/>
              </a:buClr>
              <a:buSzPts val="10000"/>
              <a:buFont typeface="Averia Serif Libre"/>
              <a:buNone/>
            </a:pPr>
            <a:endParaRPr sz="6000" b="0" i="0" u="none" strike="noStrike" cap="none">
              <a:solidFill>
                <a:srgbClr val="F8F9FA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1" name="Title"/>
          <p:cNvSpPr txBox="1">
            <a:spLocks noGrp="1"/>
          </p:cNvSpPr>
          <p:nvPr>
            <p:ph type="title"/>
          </p:nvPr>
        </p:nvSpPr>
        <p:spPr>
          <a:xfrm>
            <a:off x="1616850" y="1197425"/>
            <a:ext cx="21201300" cy="2035800"/>
          </a:xfrm>
          <a:prstGeom prst="rect">
            <a:avLst/>
          </a:prstGeom>
        </p:spPr>
        <p:txBody>
          <a:bodyPr spcFirstLastPara="1" wrap="square" lIns="50800" tIns="50800" rIns="50800" bIns="508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Cat photo credits</a:t>
            </a:r>
            <a:endParaRPr/>
          </a:p>
        </p:txBody>
      </p:sp>
      <p:sp>
        <p:nvSpPr>
          <p:cNvPr id="1002" name="Body"/>
          <p:cNvSpPr txBox="1">
            <a:spLocks noGrp="1"/>
          </p:cNvSpPr>
          <p:nvPr>
            <p:ph type="body" idx="1"/>
          </p:nvPr>
        </p:nvSpPr>
        <p:spPr>
          <a:xfrm>
            <a:off x="1616700" y="3300000"/>
            <a:ext cx="21201300" cy="9500000"/>
          </a:xfrm>
          <a:prstGeom prst="rect">
            <a:avLst/>
          </a:prstGeom>
        </p:spPr>
        <p:txBody>
          <a:bodyPr spcFirstLastPara="1" wrap="square" lIns="50800" tIns="50800" rIns="50800" bIns="508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200"/>
              </a:spcAft>
              <a:buNone/>
            </a:pPr>
            <a:r>
              <a:rPr lang="en-US" sz="2800" dirty="0"/>
              <a:t>Slide 2 — Madalyn Cox (Unsplash)</a:t>
            </a:r>
          </a:p>
          <a:p>
            <a:pPr marL="0" lvl="0" indent="0" algn="l" rtl="0">
              <a:spcBef>
                <a:spcPts val="0"/>
              </a:spcBef>
              <a:spcAft>
                <a:spcPts val="200"/>
              </a:spcAft>
              <a:buNone/>
            </a:pPr>
            <a:r>
              <a:rPr lang="en-US" sz="2800" dirty="0"/>
              <a:t>Slide 6 — Govit Pimthong (Pexels)</a:t>
            </a:r>
          </a:p>
          <a:p>
            <a:pPr marL="0" lvl="0" indent="0" algn="l" rtl="0">
              <a:spcBef>
                <a:spcPts val="0"/>
              </a:spcBef>
              <a:spcAft>
                <a:spcPts val="200"/>
              </a:spcAft>
              <a:buNone/>
            </a:pPr>
            <a:r>
              <a:rPr lang="en-US" sz="2800" dirty="0"/>
              <a:t>Slide 7 — Zoshua Colah (Unsplash)</a:t>
            </a:r>
          </a:p>
          <a:p>
            <a:pPr marL="0" lvl="0" indent="0" algn="l" rtl="0">
              <a:spcBef>
                <a:spcPts val="0"/>
              </a:spcBef>
              <a:spcAft>
                <a:spcPts val="200"/>
              </a:spcAft>
              <a:buNone/>
            </a:pPr>
            <a:r>
              <a:rPr lang="en-US" sz="2800" dirty="0"/>
              <a:t>Slide 11 — Maxim Tolchinskiy (Unsplash)</a:t>
            </a:r>
          </a:p>
          <a:p>
            <a:pPr marL="0" lvl="0" indent="0" algn="l" rtl="0">
              <a:spcBef>
                <a:spcPts val="0"/>
              </a:spcBef>
              <a:spcAft>
                <a:spcPts val="200"/>
              </a:spcAft>
              <a:buNone/>
            </a:pPr>
            <a:r>
              <a:rPr lang="en-US" sz="2800" dirty="0"/>
              <a:t>Slide 20 — Gaelle Marcel (Unsplash)</a:t>
            </a:r>
          </a:p>
          <a:p>
            <a:pPr marL="0" lvl="0" indent="0" algn="l" rtl="0">
              <a:spcBef>
                <a:spcPts val="0"/>
              </a:spcBef>
              <a:spcAft>
                <a:spcPts val="800"/>
              </a:spcAft>
              <a:buNone/>
            </a:pPr>
            <a:r>
              <a:rPr lang="en-US" sz="2800" dirty="0"/>
              <a:t>Slide 22 — Drew (Unsplash)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i="1" dirty="0"/>
              <a:t>Thanks to the photographers and to the Unsplash and Pexels communities. Free-with-attribution licensing makes talks like this possible.</a:t>
            </a:r>
            <a:endParaRPr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MidCamp">
  <a:themeElements>
    <a:clrScheme name="White">
      <a:dk1>
        <a:srgbClr val="000000"/>
      </a:dk1>
      <a:lt1>
        <a:srgbClr val="FFFFFF"/>
      </a:lt1>
      <a:dk2>
        <a:srgbClr val="5E5E5E"/>
      </a:dk2>
      <a:lt2>
        <a:srgbClr val="D5D5D5"/>
      </a:lt2>
      <a:accent1>
        <a:srgbClr val="00A2FF"/>
      </a:accent1>
      <a:accent2>
        <a:srgbClr val="16E7CF"/>
      </a:accent2>
      <a:accent3>
        <a:srgbClr val="61D836"/>
      </a:accent3>
      <a:accent4>
        <a:srgbClr val="FAE232"/>
      </a:accent4>
      <a:accent5>
        <a:srgbClr val="FF644E"/>
      </a:accent5>
      <a:accent6>
        <a:srgbClr val="EF5FA7"/>
      </a:accent6>
      <a:hlink>
        <a:srgbClr val="0000FF"/>
      </a:hlink>
      <a:folHlink>
        <a:srgbClr val="FF00FF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White">
  <a:themeElements>
    <a:clrScheme name="White">
      <a:dk1>
        <a:srgbClr val="000000"/>
      </a:dk1>
      <a:lt1>
        <a:srgbClr val="FFFFFF"/>
      </a:lt1>
      <a:dk2>
        <a:srgbClr val="5E5E5E"/>
      </a:dk2>
      <a:lt2>
        <a:srgbClr val="D5D5D5"/>
      </a:lt2>
      <a:accent1>
        <a:srgbClr val="00A2FF"/>
      </a:accent1>
      <a:accent2>
        <a:srgbClr val="16E7CF"/>
      </a:accent2>
      <a:accent3>
        <a:srgbClr val="61D836"/>
      </a:accent3>
      <a:accent4>
        <a:srgbClr val="FAE232"/>
      </a:accent4>
      <a:accent5>
        <a:srgbClr val="FF644E"/>
      </a:accent5>
      <a:accent6>
        <a:srgbClr val="EF5FA7"/>
      </a:accent6>
      <a:hlink>
        <a:srgbClr val="0000FF"/>
      </a:hlink>
      <a:folHlink>
        <a:srgbClr val="FF00FF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359</TotalTime>
  <Words>820</Words>
  <Application>Microsoft Macintosh PowerPoint</Application>
  <PresentationFormat>Custom</PresentationFormat>
  <Paragraphs>166</Paragraphs>
  <Slides>27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27</vt:i4>
      </vt:variant>
    </vt:vector>
  </HeadingPairs>
  <TitlesOfParts>
    <vt:vector size="34" baseType="lpstr">
      <vt:lpstr>Arial</vt:lpstr>
      <vt:lpstr>Poppins</vt:lpstr>
      <vt:lpstr>Helvetica Neue</vt:lpstr>
      <vt:lpstr>Helvetica Neue Light</vt:lpstr>
      <vt:lpstr>Courier New</vt:lpstr>
      <vt:lpstr>Averia Serif Libre</vt:lpstr>
      <vt:lpstr>MidCamp</vt:lpstr>
      <vt:lpstr>PowerPoint Presentation</vt:lpstr>
      <vt:lpstr>Show of hands.</vt:lpstr>
      <vt:lpstr>PowerPoint Presentation</vt:lpstr>
      <vt:lpstr>How do I convince my client to pay for automated testing? </vt:lpstr>
      <vt:lpstr>PowerPoint Presentation</vt:lpstr>
      <vt:lpstr>         TESTS ARE PART OF THE WORK.</vt:lpstr>
      <vt:lpstr>Things you don’t itemize on a quote</vt:lpstr>
      <vt:lpstr>         WHAT TO TEST. WHAT TO SKIP.</vt:lpstr>
      <vt:lpstr>TEST … OR DON’T BOTHER?</vt:lpstr>
      <vt:lpstr>But how?!?!?!</vt:lpstr>
      <vt:lpstr>         TESTING IN DRUPAL IS… A LOT.</vt:lpstr>
      <vt:lpstr>Your four options</vt:lpstr>
      <vt:lpstr>Wait, another option?</vt:lpstr>
      <vt:lpstr>         DRUPAL TEST TRAITS.</vt:lpstr>
      <vt:lpstr>PHPUnit tests against your already-installed dev site. With your real config and real content.  No reinstall. No mocks. </vt:lpstr>
      <vt:lpstr>Why it changes everything</vt:lpstr>
      <vt:lpstr>         DEMOS! SHOW ME THE DTT!</vt:lpstr>
      <vt:lpstr>         CI/CD RUN YOUR TESTS AUTOMATICALLY</vt:lpstr>
      <vt:lpstr>         TREASURES. STEAL THESE.</vt:lpstr>
      <vt:lpstr>Lift these from the repo</vt:lpstr>
      <vt:lpstr>The deal</vt:lpstr>
      <vt:lpstr>Resources</vt:lpstr>
      <vt:lpstr>PowerPoint Presentation</vt:lpstr>
      <vt:lpstr>PowerPoint Presentation</vt:lpstr>
      <vt:lpstr>PowerPoint Presentation</vt:lpstr>
      <vt:lpstr>PowerPoint Presentation</vt:lpstr>
      <vt:lpstr>Cat photo credits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Jonathan Franks</cp:lastModifiedBy>
  <cp:revision>16</cp:revision>
  <dcterms:modified xsi:type="dcterms:W3CDTF">2026-05-10T21:28:26Z</dcterms:modified>
</cp:coreProperties>
</file>